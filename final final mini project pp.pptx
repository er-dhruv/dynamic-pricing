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8.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9.xml" ContentType="application/vnd.openxmlformats-officedocument.presentationml.notesSlide+xml"/>
  <Override PartName="/ppt/ink/ink9.xml" ContentType="application/inkml+xml"/>
  <Override PartName="/ppt/ink/ink10.xml" ContentType="application/inkml+xml"/>
  <Override PartName="/ppt/ink/ink1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7" r:id="rId4"/>
  </p:sldMasterIdLst>
  <p:notesMasterIdLst>
    <p:notesMasterId r:id="rId24"/>
  </p:notesMasterIdLst>
  <p:handoutMasterIdLst>
    <p:handoutMasterId r:id="rId25"/>
  </p:handoutMasterIdLst>
  <p:sldIdLst>
    <p:sldId id="256" r:id="rId5"/>
    <p:sldId id="304" r:id="rId6"/>
    <p:sldId id="563" r:id="rId7"/>
    <p:sldId id="584" r:id="rId8"/>
    <p:sldId id="585" r:id="rId9"/>
    <p:sldId id="591" r:id="rId10"/>
    <p:sldId id="568" r:id="rId11"/>
    <p:sldId id="592" r:id="rId12"/>
    <p:sldId id="593" r:id="rId13"/>
    <p:sldId id="597" r:id="rId14"/>
    <p:sldId id="598" r:id="rId15"/>
    <p:sldId id="595" r:id="rId16"/>
    <p:sldId id="590" r:id="rId17"/>
    <p:sldId id="599" r:id="rId18"/>
    <p:sldId id="586" r:id="rId19"/>
    <p:sldId id="583" r:id="rId20"/>
    <p:sldId id="587" r:id="rId21"/>
    <p:sldId id="588" r:id="rId22"/>
    <p:sldId id="56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rav M Raja" initials="NMR" lastIdx="2" clrIdx="0">
    <p:extLst>
      <p:ext uri="{19B8F6BF-5375-455C-9EA6-DF929625EA0E}">
        <p15:presenceInfo xmlns:p15="http://schemas.microsoft.com/office/powerpoint/2012/main" userId="Nirav M Raja" providerId="None"/>
      </p:ext>
    </p:extLst>
  </p:cmAuthor>
  <p:cmAuthor id="2" name="Prof. Nirav Raja" initials="PNR" lastIdx="2" clrIdx="1">
    <p:extLst>
      <p:ext uri="{19B8F6BF-5375-455C-9EA6-DF929625EA0E}">
        <p15:presenceInfo xmlns:p15="http://schemas.microsoft.com/office/powerpoint/2012/main" userId="Prof. Nirav Raj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724209"/>
    <a:srgbClr val="2184C7"/>
    <a:srgbClr val="FCBD0D"/>
    <a:srgbClr val="4B5988"/>
    <a:srgbClr val="7F7F7F"/>
    <a:srgbClr val="E7E4CC"/>
    <a:srgbClr val="D9D9D9"/>
    <a:srgbClr val="F2F2F2"/>
    <a:srgbClr val="FAED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249" autoAdjust="0"/>
  </p:normalViewPr>
  <p:slideViewPr>
    <p:cSldViewPr snapToGrid="0">
      <p:cViewPr varScale="1">
        <p:scale>
          <a:sx n="90" d="100"/>
          <a:sy n="90" d="100"/>
        </p:scale>
        <p:origin x="389" y="53"/>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25BBA8-CAB5-420A-9CF9-242B1448258E}" type="datetimeFigureOut">
              <a:rPr lang="en-US" smtClean="0"/>
              <a:t>3/31/2026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511BA9-37EF-49D0-BAA7-0FD9C069EB60}" type="slidenum">
              <a:rPr lang="en-US" smtClean="0"/>
              <a:t>‹#›</a:t>
            </a:fld>
            <a:endParaRPr lang="en-US"/>
          </a:p>
        </p:txBody>
      </p:sp>
    </p:spTree>
    <p:extLst>
      <p:ext uri="{BB962C8B-B14F-4D97-AF65-F5344CB8AC3E}">
        <p14:creationId xmlns:p14="http://schemas.microsoft.com/office/powerpoint/2010/main" val="748642688"/>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08.39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14.50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20 59,'0'-4,"0"-4,0-5,0-4,0 5,0 8,-4 4,-1 7,1 5,0 4,1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17.4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0,'340'0,"-568"0,219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22.39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08.39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14.50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20 59,'0'-4,"0"-4,0-5,0-4,0 5,0 8,-4 4,-1 7,1 5,0 4,1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17.4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0,'340'0,"-568"0,219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22.39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08.39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14.50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20 59,'0'-4,"0"-4,0-5,0-4,0 5,0 8,-4 4,-1 7,1 5,0 4,1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19T08:23:22.39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0064BA-087C-4BA6-97DA-E6AABCD9652B}" type="datetimeFigureOut">
              <a:rPr lang="en-US" smtClean="0"/>
              <a:pPr/>
              <a:t>3/31/2026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7D1E5-DB6B-482F-9479-4777E8231CBB}" type="slidenum">
              <a:rPr lang="en-US" smtClean="0"/>
              <a:pPr/>
              <a:t>‹#›</a:t>
            </a:fld>
            <a:endParaRPr lang="en-US" dirty="0"/>
          </a:p>
        </p:txBody>
      </p:sp>
    </p:spTree>
    <p:extLst>
      <p:ext uri="{BB962C8B-B14F-4D97-AF65-F5344CB8AC3E}">
        <p14:creationId xmlns:p14="http://schemas.microsoft.com/office/powerpoint/2010/main" val="36797974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7315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0096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16B52-9DDB-627E-1225-45DB0746F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52DB4-2F1B-F99B-42DC-F575C8EDD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52F74-1D43-0419-9E2A-C243D994E1B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6842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7BC4C-05A8-6E2F-4469-F0E545265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D7876-E09E-FEFC-7C3F-0BD55EF71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AFB02-71C8-2337-C04C-D9E158FF349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5512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23AA1-107A-20D0-DAD3-217A8482C7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C6FD8-48C6-AE12-3D2F-03A059FD6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7519EB-D778-8FA1-5FCD-A8B310DC46D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85498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6413E-437F-674D-E718-A20370D0C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4A590-07BF-9C39-2595-EAB6CC65F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69687-A976-190A-0496-F191B350DDB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77165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D415B-0342-4F22-3938-B2D353E49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366D1-C23B-9252-B5F4-73199CAAA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AACA0-C83C-9908-F2BB-E82266108B2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34754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25E3F-0618-27F9-5BA2-6D8B86804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43715-810F-8FF0-497A-3FC29F75C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22A65-EBD9-F5EF-CEAE-B8BD04107AC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37175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EEAF0-0166-6651-CEA5-2F7997F5D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D6449-6D87-F302-4F47-31F7D0D2F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85920-66D5-23DE-46BA-AE4D1DE8B77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2512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1030-E305-31AF-276A-ACB303CD4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9FDD9-AC32-044D-CE01-63C07B256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D2A33-F596-7065-F614-634ECB755D6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21223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6138A-7F33-9319-0548-3D81FCE213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40813-8789-EE68-256D-F3F9A09A5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65AC21-78E6-FA0F-E241-5879124C9ED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85028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833C4-FB44-3A84-884D-AE6C9CB24E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9CC42-341D-41FD-6C2C-834B6BA07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FCB680-850C-F500-03AE-E651B1BC4E5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2283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01324-0C5A-D908-0CF4-90712D8B9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37719-72E9-07B2-409C-DF92235397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35B27-B011-A40F-2478-CDEFAF13CDE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1962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62B7E-15E2-31D2-4A6B-E96D1904B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47F90-F2A7-013B-EC68-583FC188D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4183D-E1DA-3C86-1934-4EB1A2ACB9A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2360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B2A99-1272-AC04-582B-3AAB7827A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0E2E47-8FF6-C83A-EAE0-4B244B320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8DFA1-8448-5B04-F26B-DFE429C3DBD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5298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E16CD-6821-70EA-18C1-91AF3C0DB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CC6A4-27F0-2D8B-B487-4E297275F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F1CDA-324C-6287-0143-FA759D750D4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7671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53ACD-E087-4ACD-5BD8-C07D6A8FA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84819-E728-B4F9-70A8-353E55251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0440E2-5B62-9F1B-60C2-96E11AADFE2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81133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5514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92874"/>
            <a:ext cx="12188825" cy="36512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905" y="6424595"/>
            <a:ext cx="12207240" cy="91440"/>
          </a:xfrm>
          <a:prstGeom prst="rect">
            <a:avLst/>
          </a:prstGeom>
          <a:solidFill>
            <a:srgbClr val="FCBD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527316-FC95-47EE-8A78-9A52C7613A9C}" type="datetime3">
              <a:rPr lang="en-US" smtClean="0"/>
              <a:t>31 March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844677" y="6459785"/>
            <a:ext cx="1312025" cy="365125"/>
          </a:xfrm>
        </p:spPr>
        <p:txBody>
          <a:bodyPr/>
          <a:lstStyle>
            <a:lvl1pPr>
              <a:defRPr sz="2000" b="1"/>
            </a:lvl1p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20176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BEFC15-EDEB-4FEA-B232-5BC6959DFCF3}" type="datetime3">
              <a:rPr lang="en-US" smtClean="0"/>
              <a:t>31 March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551740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E940AC-A6FF-4E06-8C1B-3191BA5E7A9A}" type="datetime3">
              <a:rPr lang="en-US" smtClean="0"/>
              <a:t>31 March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974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1AD433-EA38-4B1D-8DFC-1DF3057B5D75}" type="datetime3">
              <a:rPr lang="en-US" smtClean="0"/>
              <a:t>31 March 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844427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360813-BC79-46A6-9991-B24486407F99}" type="datetime3">
              <a:rPr lang="en-US" smtClean="0"/>
              <a:t>31 March 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343498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4FDB6C-89ED-46C0-9011-31AE96E0B158}" type="datetime3">
              <a:rPr lang="en-US" smtClean="0"/>
              <a:t>31 March 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519606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4FCF1FA-757A-4AD4-9618-85336865B1B6}" type="datetime3">
              <a:rPr lang="en-US" smtClean="0"/>
              <a:t>31 March 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778981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528D02E-351D-465F-8F48-4A60B19CA76B}" type="datetime3">
              <a:rPr lang="en-US" smtClean="0"/>
              <a:t>31 March 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2090544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F2A7F8-DCBA-4753-BC2B-7F92F61F27A5}" type="datetime3">
              <a:rPr lang="en-US" smtClean="0"/>
              <a:t>31 March 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3483178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C6849A-F7DB-45E9-B499-0C335B2EF95E}" type="datetime3">
              <a:rPr lang="en-US" smtClean="0"/>
              <a:t>31 March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4042845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8ECC36-33DA-4492-BD97-550430082DB0}" type="datetime3">
              <a:rPr lang="en-US" smtClean="0"/>
              <a:t>31 March 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pPr/>
              <a:t>‹#›</a:t>
            </a:fld>
            <a:endParaRPr lang="en-US" dirty="0"/>
          </a:p>
        </p:txBody>
      </p:sp>
    </p:spTree>
    <p:extLst>
      <p:ext uri="{BB962C8B-B14F-4D97-AF65-F5344CB8AC3E}">
        <p14:creationId xmlns:p14="http://schemas.microsoft.com/office/powerpoint/2010/main" val="4194674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4A9A8D0-0AD3-4208-B9EA-1503036A5D86}" type="datetime3">
              <a:rPr lang="en-US" smtClean="0"/>
              <a:t>31 March 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02111984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75642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customXml" Target="../ink/ink2.xml"/><Relationship Id="rId3" Type="http://schemas.openxmlformats.org/officeDocument/2006/relationships/image" Target="../media/image2.jpg"/><Relationship Id="rId7" Type="http://schemas.openxmlformats.org/officeDocument/2006/relationships/image" Target="../media/image5.png"/><Relationship Id="rId12" Type="http://schemas.openxmlformats.org/officeDocument/2006/relationships/customXml" Target="../ink/ink4.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ustomXml" Target="../ink/ink1.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customXml" Target="../ink/ink3.xml"/><Relationship Id="rId4" Type="http://schemas.openxmlformats.org/officeDocument/2006/relationships/image" Target="../media/image3.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customXml" Target="../ink/ink6.xml"/><Relationship Id="rId12"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customXml" Target="../ink/ink8.xml"/><Relationship Id="rId5" Type="http://schemas.openxmlformats.org/officeDocument/2006/relationships/customXml" Target="../ink/ink5.xml"/><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customXml" Target="../ink/ink7.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g"/><Relationship Id="rId7" Type="http://schemas.openxmlformats.org/officeDocument/2006/relationships/customXml" Target="../ink/ink10.xml"/><Relationship Id="rId12"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customXml" Target="../ink/ink9.xml"/><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customXml" Target="../ink/ink1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jp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jp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3.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3"/>
          <p:cNvSpPr/>
          <p:nvPr/>
        </p:nvSpPr>
        <p:spPr>
          <a:xfrm>
            <a:off x="-34661" y="1765837"/>
            <a:ext cx="12239700" cy="957600"/>
          </a:xfrm>
          <a:prstGeom prst="rect">
            <a:avLst/>
          </a:prstGeom>
          <a:solidFill>
            <a:srgbClr val="FCBD0D"/>
          </a:solidFill>
          <a:ln w="15875" cap="flat" cmpd="sng">
            <a:solidFill>
              <a:srgbClr val="A65F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25" name="Google Shape;125;p13"/>
          <p:cNvPicPr preferRelativeResize="0"/>
          <p:nvPr/>
        </p:nvPicPr>
        <p:blipFill rotWithShape="1">
          <a:blip r:embed="rId3">
            <a:alphaModFix/>
          </a:blip>
          <a:srcRect/>
          <a:stretch/>
        </p:blipFill>
        <p:spPr>
          <a:xfrm>
            <a:off x="10790247" y="239784"/>
            <a:ext cx="1202100" cy="1280160"/>
          </a:xfrm>
          <a:prstGeom prst="rect">
            <a:avLst/>
          </a:prstGeom>
          <a:noFill/>
          <a:ln>
            <a:noFill/>
          </a:ln>
        </p:spPr>
      </p:pic>
      <p:sp>
        <p:nvSpPr>
          <p:cNvPr id="126" name="Google Shape;126;p13"/>
          <p:cNvSpPr/>
          <p:nvPr/>
        </p:nvSpPr>
        <p:spPr>
          <a:xfrm>
            <a:off x="-86379" y="293314"/>
            <a:ext cx="12190200" cy="1277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i="0" u="none" strike="noStrike" cap="small" dirty="0">
                <a:solidFill>
                  <a:srgbClr val="002060"/>
                </a:solidFill>
                <a:latin typeface="Arial"/>
                <a:ea typeface="Arial"/>
                <a:cs typeface="Arial"/>
                <a:sym typeface="Arial"/>
              </a:rPr>
              <a:t>G H PATEL COLLEGE OF ENGINEERING &amp; TECHNOLOGY</a:t>
            </a:r>
            <a:endParaRPr dirty="0"/>
          </a:p>
          <a:p>
            <a:pPr marL="0" marR="0" lvl="0" indent="0" algn="ctr" rtl="0">
              <a:spcBef>
                <a:spcPts val="900"/>
              </a:spcBef>
              <a:spcAft>
                <a:spcPts val="0"/>
              </a:spcAft>
              <a:buNone/>
            </a:pPr>
            <a:r>
              <a:rPr lang="en-US" sz="1700" b="1" i="0" u="none" strike="noStrike" cap="small" dirty="0">
                <a:solidFill>
                  <a:srgbClr val="002060"/>
                </a:solidFill>
                <a:latin typeface="Arial"/>
                <a:ea typeface="Arial"/>
                <a:cs typeface="Arial"/>
                <a:sym typeface="Arial"/>
              </a:rPr>
              <a:t>(THE CHARUTAR VIDYA MANDAL (CVM) UNIVERSITY)</a:t>
            </a:r>
            <a:endParaRPr dirty="0"/>
          </a:p>
          <a:p>
            <a:pPr marL="0" marR="0" lvl="0" indent="0" algn="ctr" rtl="0">
              <a:spcBef>
                <a:spcPts val="900"/>
              </a:spcBef>
              <a:spcAft>
                <a:spcPts val="0"/>
              </a:spcAft>
              <a:buNone/>
            </a:pPr>
            <a:r>
              <a:rPr lang="en-US" sz="2100" b="1" i="0" u="none" strike="noStrike" cap="small" dirty="0">
                <a:solidFill>
                  <a:srgbClr val="724209"/>
                </a:solidFill>
                <a:latin typeface="Arial"/>
                <a:ea typeface="Arial"/>
                <a:cs typeface="Arial"/>
                <a:sym typeface="Arial"/>
              </a:rPr>
              <a:t>DEPARTMENT OF COMPUTER ENGINEERING</a:t>
            </a:r>
            <a:endParaRPr dirty="0"/>
          </a:p>
        </p:txBody>
      </p:sp>
      <p:sp>
        <p:nvSpPr>
          <p:cNvPr id="127" name="Google Shape;127;p13"/>
          <p:cNvSpPr/>
          <p:nvPr/>
        </p:nvSpPr>
        <p:spPr>
          <a:xfrm>
            <a:off x="1160829" y="4795784"/>
            <a:ext cx="2387700" cy="400200"/>
          </a:xfrm>
          <a:prstGeom prst="rect">
            <a:avLst/>
          </a:prstGeom>
          <a:noFill/>
          <a:ln>
            <a:noFill/>
          </a:ln>
        </p:spPr>
        <p:txBody>
          <a:bodyPr spcFirstLastPara="1" wrap="square" lIns="91425" tIns="45700" rIns="91425" bIns="45700" anchor="t" anchorCtr="0">
            <a:noAutofit/>
          </a:bodyPr>
          <a:lstStyle/>
          <a:p>
            <a:pPr marL="0" marR="0" lvl="0" indent="0" algn="ctr" rtl="0">
              <a:lnSpc>
                <a:spcPct val="120000"/>
              </a:lnSpc>
              <a:spcBef>
                <a:spcPts val="0"/>
              </a:spcBef>
              <a:spcAft>
                <a:spcPts val="0"/>
              </a:spcAft>
              <a:buNone/>
            </a:pPr>
            <a:r>
              <a:rPr lang="en-US" sz="2000" b="1" i="0" u="sng" strike="noStrike" cap="small" dirty="0">
                <a:solidFill>
                  <a:srgbClr val="724108"/>
                </a:solidFill>
                <a:latin typeface="Arial"/>
                <a:ea typeface="Arial"/>
                <a:cs typeface="Arial"/>
                <a:sym typeface="Arial"/>
              </a:rPr>
              <a:t>Presented By </a:t>
            </a:r>
            <a:endParaRPr dirty="0"/>
          </a:p>
        </p:txBody>
      </p:sp>
      <p:sp>
        <p:nvSpPr>
          <p:cNvPr id="128" name="Google Shape;128;p13"/>
          <p:cNvSpPr txBox="1"/>
          <p:nvPr/>
        </p:nvSpPr>
        <p:spPr>
          <a:xfrm>
            <a:off x="-34840" y="1917509"/>
            <a:ext cx="12138600" cy="463933"/>
          </a:xfrm>
          <a:prstGeom prst="rect">
            <a:avLst/>
          </a:prstGeom>
          <a:noFill/>
          <a:ln>
            <a:noFill/>
          </a:ln>
        </p:spPr>
        <p:txBody>
          <a:bodyPr spcFirstLastPara="1" wrap="square" lIns="91425" tIns="45700" rIns="91425" bIns="45700" anchor="t" anchorCtr="0">
            <a:spAutoFit/>
          </a:bodyPr>
          <a:lstStyle/>
          <a:p>
            <a:pPr lvl="0" algn="ctr">
              <a:lnSpc>
                <a:spcPct val="115000"/>
              </a:lnSpc>
            </a:pPr>
            <a:r>
              <a:rPr lang="en-US" sz="2100" b="1" i="0" u="none" strike="noStrike" cap="small" dirty="0">
                <a:solidFill>
                  <a:schemeClr val="dk1"/>
                </a:solidFill>
                <a:latin typeface="Arial"/>
                <a:ea typeface="Arial"/>
                <a:cs typeface="Arial"/>
                <a:sym typeface="Arial"/>
              </a:rPr>
              <a:t>“</a:t>
            </a:r>
            <a:r>
              <a:rPr lang="en-US" sz="2100" b="1" dirty="0"/>
              <a:t>AI‑Assisted Dynamic Pricing and Product Content Optimization System for B2C Platforms</a:t>
            </a:r>
            <a:r>
              <a:rPr lang="en-US" sz="2100" b="1" i="0" u="none" strike="noStrike" cap="small" dirty="0">
                <a:solidFill>
                  <a:schemeClr val="dk1"/>
                </a:solidFill>
                <a:latin typeface="Arial"/>
                <a:ea typeface="Arial"/>
                <a:cs typeface="Arial"/>
                <a:sym typeface="Arial"/>
              </a:rPr>
              <a:t>”</a:t>
            </a:r>
            <a:endParaRPr sz="2100" dirty="0"/>
          </a:p>
        </p:txBody>
      </p:sp>
      <p:sp>
        <p:nvSpPr>
          <p:cNvPr id="129" name="Google Shape;129;p13"/>
          <p:cNvSpPr/>
          <p:nvPr/>
        </p:nvSpPr>
        <p:spPr>
          <a:xfrm>
            <a:off x="8643473" y="4795784"/>
            <a:ext cx="2629200" cy="400200"/>
          </a:xfrm>
          <a:prstGeom prst="rect">
            <a:avLst/>
          </a:prstGeom>
          <a:noFill/>
          <a:ln>
            <a:noFill/>
          </a:ln>
        </p:spPr>
        <p:txBody>
          <a:bodyPr spcFirstLastPara="1" wrap="square" lIns="91425" tIns="45700" rIns="91425" bIns="45700" anchor="t" anchorCtr="0">
            <a:noAutofit/>
          </a:bodyPr>
          <a:lstStyle/>
          <a:p>
            <a:pPr marL="0" marR="0" lvl="0" indent="0" algn="ctr" rtl="0">
              <a:lnSpc>
                <a:spcPct val="120000"/>
              </a:lnSpc>
              <a:spcBef>
                <a:spcPts val="0"/>
              </a:spcBef>
              <a:spcAft>
                <a:spcPts val="0"/>
              </a:spcAft>
              <a:buNone/>
            </a:pPr>
            <a:r>
              <a:rPr lang="en-US" sz="2000" b="1" i="0" u="sng" strike="noStrike" cap="small" dirty="0">
                <a:solidFill>
                  <a:srgbClr val="724108"/>
                </a:solidFill>
                <a:latin typeface="Arial"/>
                <a:ea typeface="Arial"/>
                <a:cs typeface="Arial"/>
                <a:sym typeface="Arial"/>
              </a:rPr>
              <a:t>Internal Guide</a:t>
            </a:r>
            <a:endParaRPr dirty="0"/>
          </a:p>
        </p:txBody>
      </p:sp>
      <p:sp>
        <p:nvSpPr>
          <p:cNvPr id="130" name="Google Shape;130;p13"/>
          <p:cNvSpPr txBox="1">
            <a:spLocks noGrp="1"/>
          </p:cNvSpPr>
          <p:nvPr>
            <p:ph type="sldNum" idx="12"/>
          </p:nvPr>
        </p:nvSpPr>
        <p:spPr>
          <a:xfrm>
            <a:off x="10844677" y="6459785"/>
            <a:ext cx="13119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31" name="Google Shape;131;p13"/>
          <p:cNvSpPr/>
          <p:nvPr/>
        </p:nvSpPr>
        <p:spPr>
          <a:xfrm>
            <a:off x="13114" y="4096643"/>
            <a:ext cx="12192000" cy="430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b="1" i="0" u="none" strike="noStrike" cap="small" dirty="0">
                <a:solidFill>
                  <a:srgbClr val="002060"/>
                </a:solidFill>
                <a:latin typeface="Arial"/>
                <a:ea typeface="Arial"/>
                <a:cs typeface="Arial"/>
                <a:sym typeface="Arial"/>
              </a:rPr>
              <a:t>19</a:t>
            </a:r>
            <a:r>
              <a:rPr lang="en-US" sz="2200" b="1" i="0" u="none" strike="noStrike" cap="small" baseline="30000" dirty="0">
                <a:solidFill>
                  <a:srgbClr val="002060"/>
                </a:solidFill>
                <a:latin typeface="Arial"/>
                <a:ea typeface="Arial"/>
                <a:cs typeface="Arial"/>
                <a:sym typeface="Arial"/>
              </a:rPr>
              <a:t>th</a:t>
            </a:r>
            <a:r>
              <a:rPr lang="en-US" sz="2200" b="1" i="0" u="none" strike="noStrike" cap="small" dirty="0">
                <a:solidFill>
                  <a:srgbClr val="002060"/>
                </a:solidFill>
                <a:latin typeface="Arial"/>
                <a:ea typeface="Arial"/>
                <a:cs typeface="Arial"/>
                <a:sym typeface="Arial"/>
              </a:rPr>
              <a:t> March 2026</a:t>
            </a:r>
            <a:endParaRPr sz="2200" b="1" i="0" u="none" strike="noStrike" cap="small" dirty="0">
              <a:solidFill>
                <a:srgbClr val="002060"/>
              </a:solidFill>
              <a:latin typeface="Arial"/>
              <a:ea typeface="Arial"/>
              <a:cs typeface="Arial"/>
              <a:sym typeface="Arial"/>
            </a:endParaRPr>
          </a:p>
        </p:txBody>
      </p:sp>
      <p:sp>
        <p:nvSpPr>
          <p:cNvPr id="132" name="Google Shape;132;p13"/>
          <p:cNvSpPr txBox="1"/>
          <p:nvPr/>
        </p:nvSpPr>
        <p:spPr>
          <a:xfrm>
            <a:off x="40325" y="2824114"/>
            <a:ext cx="12164700" cy="1046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MINI PROJECT (202040601)</a:t>
            </a:r>
            <a:endParaRPr sz="2800" b="0" i="0" u="none" strike="noStrike" cap="none" dirty="0">
              <a:solidFill>
                <a:schemeClr val="dk1"/>
              </a:solidFill>
              <a:latin typeface="Calibri"/>
              <a:ea typeface="Calibri"/>
              <a:cs typeface="Calibri"/>
              <a:sym typeface="Calibri"/>
            </a:endParaRPr>
          </a:p>
          <a:p>
            <a:pPr marL="0" marR="0" lvl="0" indent="0" algn="ctr" rtl="0">
              <a:lnSpc>
                <a:spcPct val="115000"/>
              </a:lnSpc>
              <a:spcBef>
                <a:spcPts val="0"/>
              </a:spcBef>
              <a:spcAft>
                <a:spcPts val="0"/>
              </a:spcAft>
              <a:buNone/>
            </a:pPr>
            <a:r>
              <a:rPr lang="en-US" sz="3200" b="1" i="0" u="none" strike="noStrike" cap="small" dirty="0">
                <a:solidFill>
                  <a:srgbClr val="724108"/>
                </a:solidFill>
                <a:latin typeface="Arial"/>
                <a:ea typeface="Arial"/>
                <a:cs typeface="Arial"/>
                <a:sym typeface="Arial"/>
              </a:rPr>
              <a:t>Internal Presentation</a:t>
            </a:r>
            <a:endParaRPr dirty="0"/>
          </a:p>
        </p:txBody>
      </p:sp>
      <p:sp>
        <p:nvSpPr>
          <p:cNvPr id="133" name="Google Shape;133;p13"/>
          <p:cNvSpPr/>
          <p:nvPr/>
        </p:nvSpPr>
        <p:spPr>
          <a:xfrm>
            <a:off x="11688616" y="6564686"/>
            <a:ext cx="468000" cy="273900"/>
          </a:xfrm>
          <a:prstGeom prst="rect">
            <a:avLst/>
          </a:prstGeom>
          <a:solidFill>
            <a:srgbClr val="21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4" name="Google Shape;134;p13"/>
          <p:cNvSpPr/>
          <p:nvPr/>
        </p:nvSpPr>
        <p:spPr>
          <a:xfrm>
            <a:off x="7653323" y="5226671"/>
            <a:ext cx="4609500" cy="708000"/>
          </a:xfrm>
          <a:prstGeom prst="rect">
            <a:avLst/>
          </a:prstGeom>
          <a:noFill/>
          <a:ln>
            <a:noFill/>
          </a:ln>
        </p:spPr>
        <p:txBody>
          <a:bodyPr spcFirstLastPara="1" wrap="square" lIns="91425" tIns="45700" rIns="91425" bIns="45700" anchor="t" anchorCtr="0">
            <a:noAutofit/>
          </a:bodyPr>
          <a:lstStyle/>
          <a:p>
            <a:pPr lvl="0" algn="ctr">
              <a:lnSpc>
                <a:spcPct val="150000"/>
              </a:lnSpc>
            </a:pPr>
            <a:r>
              <a:rPr lang="en-US" sz="2000" b="1" cap="small" dirty="0">
                <a:solidFill>
                  <a:srgbClr val="002060"/>
                </a:solidFill>
                <a:latin typeface="Arial"/>
                <a:ea typeface="Arial"/>
                <a:cs typeface="Arial"/>
                <a:sym typeface="Arial"/>
              </a:rPr>
              <a:t>BRIJESH P. PATEL</a:t>
            </a:r>
            <a:endParaRPr dirty="0"/>
          </a:p>
          <a:p>
            <a:pPr marL="0" marR="0" lvl="0" indent="0" algn="ctr" rtl="0">
              <a:lnSpc>
                <a:spcPct val="150000"/>
              </a:lnSpc>
              <a:spcBef>
                <a:spcPts val="0"/>
              </a:spcBef>
              <a:spcAft>
                <a:spcPts val="0"/>
              </a:spcAft>
              <a:buNone/>
            </a:pPr>
            <a:endParaRPr dirty="0"/>
          </a:p>
        </p:txBody>
      </p:sp>
      <p:pic>
        <p:nvPicPr>
          <p:cNvPr id="135" name="Google Shape;135;p13" descr="Logo, company name&#10;&#10;Description automatically generated"/>
          <p:cNvPicPr preferRelativeResize="0"/>
          <p:nvPr/>
        </p:nvPicPr>
        <p:blipFill rotWithShape="1">
          <a:blip r:embed="rId4">
            <a:alphaModFix/>
          </a:blip>
          <a:srcRect l="22684" t="23900" r="24745" b="27451"/>
          <a:stretch/>
        </p:blipFill>
        <p:spPr>
          <a:xfrm>
            <a:off x="62097" y="239784"/>
            <a:ext cx="1384038" cy="1280161"/>
          </a:xfrm>
          <a:prstGeom prst="rect">
            <a:avLst/>
          </a:prstGeom>
          <a:noFill/>
          <a:ln>
            <a:noFill/>
          </a:ln>
        </p:spPr>
      </p:pic>
      <p:sp>
        <p:nvSpPr>
          <p:cNvPr id="136" name="Google Shape;136;p13"/>
          <p:cNvSpPr/>
          <p:nvPr/>
        </p:nvSpPr>
        <p:spPr>
          <a:xfrm>
            <a:off x="-86379" y="5268236"/>
            <a:ext cx="6062376" cy="987900"/>
          </a:xfrm>
          <a:prstGeom prst="rect">
            <a:avLst/>
          </a:prstGeom>
          <a:noFill/>
          <a:ln>
            <a:noFill/>
          </a:ln>
        </p:spPr>
        <p:txBody>
          <a:bodyPr spcFirstLastPara="1" wrap="square" lIns="91425" tIns="45700" rIns="91425" bIns="45700" anchor="t" anchorCtr="0">
            <a:noAutofit/>
          </a:bodyPr>
          <a:lstStyle/>
          <a:p>
            <a:pPr marL="0" marR="0" lvl="0" indent="0" algn="ctr" rtl="0">
              <a:lnSpc>
                <a:spcPct val="109090"/>
              </a:lnSpc>
              <a:spcBef>
                <a:spcPts val="0"/>
              </a:spcBef>
              <a:spcAft>
                <a:spcPts val="0"/>
              </a:spcAft>
              <a:buNone/>
            </a:pPr>
            <a:r>
              <a:rPr lang="en-US" sz="2200" b="1" cap="small" dirty="0">
                <a:solidFill>
                  <a:srgbClr val="002060"/>
                </a:solidFill>
              </a:rPr>
              <a:t>    </a:t>
            </a:r>
            <a:r>
              <a:rPr lang="en-US" sz="2000" b="1" cap="small" dirty="0">
                <a:solidFill>
                  <a:srgbClr val="002060"/>
                </a:solidFill>
              </a:rPr>
              <a:t>Dhruv Patil, Dip Baldha, Harsh Tailor</a:t>
            </a:r>
            <a:r>
              <a:rPr lang="en-IN" sz="2000" dirty="0"/>
              <a:t> </a:t>
            </a:r>
            <a:r>
              <a:rPr lang="en-US" b="1" i="0" u="none" strike="noStrike" cap="small" dirty="0">
                <a:solidFill>
                  <a:srgbClr val="002060"/>
                </a:solidFill>
                <a:latin typeface="+mj-lt"/>
                <a:ea typeface="Arial"/>
                <a:cs typeface="Arial" panose="020B0604020202020204" pitchFamily="34" charset="0"/>
                <a:sym typeface="Arial"/>
              </a:rPr>
              <a:t>(12302040501012) </a:t>
            </a:r>
            <a:r>
              <a:rPr lang="en-US" b="1" cap="small" dirty="0">
                <a:solidFill>
                  <a:srgbClr val="002060"/>
                </a:solidFill>
                <a:latin typeface="+mj-lt"/>
                <a:cs typeface="Arial" panose="020B0604020202020204" pitchFamily="34" charset="0"/>
              </a:rPr>
              <a:t>, (12302040501015 ) , (12302040501019)</a:t>
            </a:r>
          </a:p>
          <a:p>
            <a:pPr marL="0" marR="0" lvl="0" indent="0" algn="ctr" rtl="0">
              <a:lnSpc>
                <a:spcPct val="109090"/>
              </a:lnSpc>
              <a:spcBef>
                <a:spcPts val="0"/>
              </a:spcBef>
              <a:spcAft>
                <a:spcPts val="0"/>
              </a:spcAft>
              <a:buNone/>
            </a:pPr>
            <a:r>
              <a:rPr lang="en-US" sz="1600" b="1" i="0" u="none" strike="noStrike" cap="small" dirty="0">
                <a:solidFill>
                  <a:srgbClr val="002060"/>
                </a:solidFill>
                <a:latin typeface="Arial"/>
                <a:ea typeface="Arial"/>
                <a:cs typeface="Arial"/>
                <a:sym typeface="Arial"/>
              </a:rPr>
              <a:t>Cp, G</a:t>
            </a:r>
            <a:r>
              <a:rPr lang="en-US" sz="1600" b="1" cap="small" dirty="0">
                <a:solidFill>
                  <a:srgbClr val="002060"/>
                </a:solidFill>
                <a:latin typeface="Arial"/>
                <a:ea typeface="Arial"/>
                <a:cs typeface="Arial"/>
                <a:sym typeface="Arial"/>
              </a:rPr>
              <a:t>CET</a:t>
            </a:r>
            <a:endParaRPr lang="en-US" sz="1600" b="1" i="0" u="none" strike="noStrike" cap="small" dirty="0">
              <a:solidFill>
                <a:srgbClr val="002060"/>
              </a:solidFill>
              <a:latin typeface="Arial"/>
              <a:ea typeface="Arial"/>
              <a:cs typeface="Arial"/>
              <a:sym typeface="Arial"/>
            </a:endParaRPr>
          </a:p>
          <a:p>
            <a:pPr marL="0" marR="0" lvl="0" indent="0" algn="ctr" rtl="0">
              <a:lnSpc>
                <a:spcPct val="150000"/>
              </a:lnSpc>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p:cNvSpPr txBox="1">
            <a:spLocks/>
          </p:cNvSpPr>
          <p:nvPr/>
        </p:nvSpPr>
        <p:spPr>
          <a:xfrm>
            <a:off x="190311" y="1172826"/>
            <a:ext cx="11571889" cy="5402859"/>
          </a:xfrm>
          <a:prstGeom prst="rect">
            <a:avLst/>
          </a:prstGeom>
        </p:spPr>
        <p:txBody>
          <a:bodyPr vert="horz" lIns="91440" tIns="45720" rIns="91440" bIns="45720" numCol="2"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285750" lvl="0" indent="-285750">
              <a:lnSpc>
                <a:spcPct val="100000"/>
              </a:lnSpc>
              <a:spcBef>
                <a:spcPts val="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ea typeface="Arial"/>
                <a:cs typeface="Arial" panose="020B0604020202020204" pitchFamily="34" charset="0"/>
                <a:sym typeface="Arial"/>
              </a:rPr>
              <a:t>Introduction</a:t>
            </a:r>
            <a:endParaRPr lang="en-US" sz="1200" dirty="0">
              <a:latin typeface="Arial" panose="020B0604020202020204" pitchFamily="34" charset="0"/>
              <a:cs typeface="Arial" panose="020B0604020202020204" pitchFamily="34" charset="0"/>
            </a:endParaRP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sym typeface="Arial"/>
              </a:rPr>
              <a:t>Proble</a:t>
            </a:r>
            <a:r>
              <a:rPr lang="en-US" sz="2000" cap="small" dirty="0">
                <a:solidFill>
                  <a:schemeClr val="dk1"/>
                </a:solidFill>
                <a:latin typeface="Arial" panose="020B0604020202020204" pitchFamily="34" charset="0"/>
                <a:cs typeface="Arial" panose="020B0604020202020204" pitchFamily="34" charset="0"/>
              </a:rPr>
              <a:t>m Statement</a:t>
            </a:r>
            <a:endParaRPr lang="en-US" sz="2000" cap="small" dirty="0">
              <a:solidFill>
                <a:schemeClr val="dk1"/>
              </a:solidFill>
              <a:latin typeface="Arial" panose="020B0604020202020204" pitchFamily="34" charset="0"/>
              <a:cs typeface="Arial" panose="020B0604020202020204" pitchFamily="34" charset="0"/>
              <a:sym typeface="Arial"/>
            </a:endParaRP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rPr>
              <a:t>Motivation</a:t>
            </a: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sym typeface="Arial"/>
              </a:rPr>
              <a:t>Objectives</a:t>
            </a: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rPr>
              <a:t>Literature Review</a:t>
            </a:r>
            <a:endParaRPr lang="en-US" sz="2000" cap="small" dirty="0">
              <a:solidFill>
                <a:schemeClr val="dk1"/>
              </a:solidFill>
              <a:latin typeface="Arial" panose="020B0604020202020204" pitchFamily="34" charset="0"/>
              <a:cs typeface="Arial" panose="020B0604020202020204" pitchFamily="34" charset="0"/>
              <a:sym typeface="Arial"/>
            </a:endParaRP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sym typeface="Arial"/>
              </a:rPr>
              <a:t>System Design &amp; Methodology</a:t>
            </a: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sym typeface="Arial"/>
              </a:rPr>
              <a:t>Machine Learning Model</a:t>
            </a: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sym typeface="Arial"/>
              </a:rPr>
              <a:t>Tools and Technologies</a:t>
            </a: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rPr>
              <a:t>Implementation</a:t>
            </a: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cs typeface="Arial" panose="020B0604020202020204" pitchFamily="34" charset="0"/>
              </a:rPr>
              <a:t>Testing &amp; Results</a:t>
            </a:r>
            <a:endParaRPr lang="en-US" sz="1200" dirty="0">
              <a:latin typeface="Arial" panose="020B0604020202020204" pitchFamily="34" charset="0"/>
              <a:cs typeface="Arial" panose="020B0604020202020204" pitchFamily="34" charset="0"/>
            </a:endParaRP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ea typeface="Arial"/>
                <a:cs typeface="Arial" panose="020B0604020202020204" pitchFamily="34" charset="0"/>
                <a:sym typeface="Arial"/>
              </a:rPr>
              <a:t>Conclusion &amp; Future Work</a:t>
            </a:r>
            <a:endParaRPr lang="en-US" sz="1200" dirty="0">
              <a:latin typeface="Arial" panose="020B0604020202020204" pitchFamily="34" charset="0"/>
              <a:cs typeface="Arial" panose="020B0604020202020204" pitchFamily="34" charset="0"/>
            </a:endParaRPr>
          </a:p>
          <a:p>
            <a:pPr marL="285750" lvl="2" indent="-285750" algn="l">
              <a:lnSpc>
                <a:spcPct val="100000"/>
              </a:lnSpc>
              <a:spcBef>
                <a:spcPts val="900"/>
              </a:spcBef>
              <a:spcAft>
                <a:spcPts val="0"/>
              </a:spcAft>
              <a:buClr>
                <a:srgbClr val="1F394D"/>
              </a:buClr>
              <a:buSzPts val="2400"/>
              <a:buFont typeface="Arial"/>
              <a:buChar char="•"/>
            </a:pPr>
            <a:r>
              <a:rPr lang="en-US" sz="2000" cap="small" dirty="0">
                <a:solidFill>
                  <a:schemeClr val="dk1"/>
                </a:solidFill>
                <a:latin typeface="Arial" panose="020B0604020202020204" pitchFamily="34" charset="0"/>
                <a:ea typeface="Arial"/>
                <a:cs typeface="Arial" panose="020B0604020202020204" pitchFamily="34" charset="0"/>
                <a:sym typeface="Arial"/>
              </a:rPr>
              <a:t>references</a:t>
            </a: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757A248D-4C0C-489D-8BA3-32026891603B}"/>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14FCD32-1B88-49B1-B3D6-3661ABD56F33}"/>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2</a:t>
            </a:fld>
            <a:endParaRPr lang="en-US" sz="1600" dirty="0"/>
          </a:p>
        </p:txBody>
      </p:sp>
      <p:sp>
        <p:nvSpPr>
          <p:cNvPr id="9" name="Rectangle 8">
            <a:extLst>
              <a:ext uri="{FF2B5EF4-FFF2-40B4-BE49-F238E27FC236}">
                <a16:creationId xmlns:a16="http://schemas.microsoft.com/office/drawing/2014/main" id="{A2DF6078-FD4B-4001-B892-32794027890D}"/>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Outline</a:t>
            </a:r>
          </a:p>
        </p:txBody>
      </p:sp>
      <p:pic>
        <p:nvPicPr>
          <p:cNvPr id="10" name="Google Shape;89;p1" descr="Logo, company name&#10;&#10;Description automatically generated">
            <a:extLst>
              <a:ext uri="{FF2B5EF4-FFF2-40B4-BE49-F238E27FC236}">
                <a16:creationId xmlns:a16="http://schemas.microsoft.com/office/drawing/2014/main" id="{2DB6BB17-0A95-438B-B361-179E033136C0}"/>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1" name="Rectangle 10">
            <a:extLst>
              <a:ext uri="{FF2B5EF4-FFF2-40B4-BE49-F238E27FC236}">
                <a16:creationId xmlns:a16="http://schemas.microsoft.com/office/drawing/2014/main" id="{95B637DF-6375-48FC-8F6B-319493D5ED7B}"/>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15" name="Rectangle 14">
            <a:extLst>
              <a:ext uri="{FF2B5EF4-FFF2-40B4-BE49-F238E27FC236}">
                <a16:creationId xmlns:a16="http://schemas.microsoft.com/office/drawing/2014/main" id="{B5B5CDA8-86E7-43DF-BF03-4DCD54FCD393}"/>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1276239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757A248D-4C0C-489D-8BA3-32026891603B}"/>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14FCD32-1B88-49B1-B3D6-3661ABD56F33}"/>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3</a:t>
            </a:fld>
            <a:endParaRPr lang="en-US" sz="1600" dirty="0"/>
          </a:p>
        </p:txBody>
      </p:sp>
      <p:sp>
        <p:nvSpPr>
          <p:cNvPr id="9" name="Rectangle 8">
            <a:extLst>
              <a:ext uri="{FF2B5EF4-FFF2-40B4-BE49-F238E27FC236}">
                <a16:creationId xmlns:a16="http://schemas.microsoft.com/office/drawing/2014/main" id="{A2DF6078-FD4B-4001-B892-32794027890D}"/>
              </a:ext>
            </a:extLst>
          </p:cNvPr>
          <p:cNvSpPr/>
          <p:nvPr/>
        </p:nvSpPr>
        <p:spPr>
          <a:xfrm>
            <a:off x="1202871" y="37567"/>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US" sz="3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PROBLEM STATEMENT</a:t>
            </a:r>
            <a:endParaRPr lang="en-IN" sz="3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pic>
        <p:nvPicPr>
          <p:cNvPr id="10" name="Google Shape;89;p1" descr="Logo, company name&#10;&#10;Description automatically generated">
            <a:extLst>
              <a:ext uri="{FF2B5EF4-FFF2-40B4-BE49-F238E27FC236}">
                <a16:creationId xmlns:a16="http://schemas.microsoft.com/office/drawing/2014/main" id="{2DB6BB17-0A95-438B-B361-179E033136C0}"/>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115F3E64-9A58-40E4-9778-D1D51A74E915}"/>
              </a:ext>
            </a:extLst>
          </p:cNvPr>
          <p:cNvSpPr txBox="1"/>
          <p:nvPr/>
        </p:nvSpPr>
        <p:spPr>
          <a:xfrm>
            <a:off x="134946" y="1510619"/>
            <a:ext cx="11922105" cy="4708981"/>
          </a:xfrm>
          <a:prstGeom prst="rect">
            <a:avLst/>
          </a:prstGeom>
          <a:noFill/>
        </p:spPr>
        <p:txBody>
          <a:bodyPr wrap="square">
            <a:spAutoFit/>
          </a:bodyPr>
          <a:lstStyle/>
          <a:p>
            <a:pPr algn="just">
              <a:spcBef>
                <a:spcPts val="1200"/>
              </a:spcBef>
            </a:pPr>
            <a:r>
              <a:rPr lang="en-US" sz="2000" dirty="0">
                <a:latin typeface="Microsoft JhengHei UI" panose="020B0604030504040204" pitchFamily="34" charset="-120"/>
                <a:ea typeface="Microsoft JhengHei UI" panose="020B0604030504040204" pitchFamily="34" charset="-120"/>
              </a:rPr>
              <a:t>Problem Statement</a:t>
            </a:r>
          </a:p>
          <a:p>
            <a:pPr algn="just">
              <a:spcBef>
                <a:spcPts val="1200"/>
              </a:spcBef>
            </a:pPr>
            <a:r>
              <a:rPr lang="en-US" sz="2000" dirty="0">
                <a:latin typeface="Microsoft JhengHei UI" panose="020B0604030504040204" pitchFamily="34" charset="-120"/>
                <a:ea typeface="Microsoft JhengHei UI" panose="020B0604030504040204" pitchFamily="34" charset="-120"/>
              </a:rPr>
              <a:t>In many B2C online systems, pricing decisions and product content management are handled using static methods and manual processes. These approaches do not adequately adapt to changing demand patterns, inventory variations, or customer feedback trends.</a:t>
            </a:r>
          </a:p>
          <a:p>
            <a:pPr algn="just">
              <a:spcBef>
                <a:spcPts val="1200"/>
              </a:spcBef>
            </a:pPr>
            <a:r>
              <a:rPr lang="en-US" sz="2000" dirty="0">
                <a:latin typeface="Microsoft JhengHei UI" panose="020B0604030504040204" pitchFamily="34" charset="-120"/>
                <a:ea typeface="Microsoft JhengHei UI" panose="020B0604030504040204" pitchFamily="34" charset="-120"/>
              </a:rPr>
              <a:t>As a result:</a:t>
            </a:r>
          </a:p>
          <a:p>
            <a:pPr marL="342900" indent="-342900" algn="just">
              <a:spcBef>
                <a:spcPts val="1200"/>
              </a:spcBef>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Pricing decisions may lack data-driven justification.</a:t>
            </a:r>
          </a:p>
          <a:p>
            <a:pPr marL="342900" indent="-342900" algn="just">
              <a:spcBef>
                <a:spcPts val="1200"/>
              </a:spcBef>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Product descriptions and review summaries may not effectively support customer understanding.</a:t>
            </a:r>
          </a:p>
          <a:p>
            <a:pPr marL="342900" indent="-342900" algn="just">
              <a:spcBef>
                <a:spcPts val="1200"/>
              </a:spcBef>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Decision makers do not receive clear analytical insights to support pricing and content optimization.</a:t>
            </a:r>
          </a:p>
          <a:p>
            <a:pPr algn="just">
              <a:spcBef>
                <a:spcPts val="1200"/>
              </a:spcBef>
            </a:pPr>
            <a:r>
              <a:rPr lang="en-US" sz="2000" dirty="0">
                <a:latin typeface="Microsoft JhengHei UI" panose="020B0604030504040204" pitchFamily="34" charset="-120"/>
                <a:ea typeface="Microsoft JhengHei UI" panose="020B0604030504040204" pitchFamily="34" charset="-120"/>
              </a:rPr>
              <a:t>There is a need for an AI-assisted decision support system that can analyze available data and provide meaningful recommendations for pricing and product content enhancement.</a:t>
            </a:r>
          </a:p>
        </p:txBody>
      </p:sp>
      <p:sp>
        <p:nvSpPr>
          <p:cNvPr id="14" name="Rectangle 13">
            <a:extLst>
              <a:ext uri="{FF2B5EF4-FFF2-40B4-BE49-F238E27FC236}">
                <a16:creationId xmlns:a16="http://schemas.microsoft.com/office/drawing/2014/main" id="{3AEC216A-3208-4A8C-A2C5-148A7FA2A942}"/>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1BB93527-A452-8934-C671-1A68755F927A}"/>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18383471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7510B-8F58-710E-1E59-F6DF518CF75E}"/>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73DD28C1-2008-680E-CFD0-5660B1CCBD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C8A81472-8EA9-A6D9-0DF9-CCCE674A4603}"/>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627127E-74D0-77C1-E4EE-AB33A28D9856}"/>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4</a:t>
            </a:fld>
            <a:endParaRPr lang="en-US" sz="1600" dirty="0"/>
          </a:p>
        </p:txBody>
      </p:sp>
      <p:sp>
        <p:nvSpPr>
          <p:cNvPr id="9" name="Rectangle 8">
            <a:extLst>
              <a:ext uri="{FF2B5EF4-FFF2-40B4-BE49-F238E27FC236}">
                <a16:creationId xmlns:a16="http://schemas.microsoft.com/office/drawing/2014/main" id="{E6783036-9C2B-27AA-7CDE-94397AD17D1D}"/>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64BCD705-86E2-241A-BD74-5B1A257C4A24}"/>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MOTIVATION &amp; NEED</a:t>
            </a:r>
          </a:p>
        </p:txBody>
      </p:sp>
      <p:pic>
        <p:nvPicPr>
          <p:cNvPr id="10" name="Google Shape;89;p1" descr="Logo, company name&#10;&#10;Description automatically generated">
            <a:extLst>
              <a:ext uri="{FF2B5EF4-FFF2-40B4-BE49-F238E27FC236}">
                <a16:creationId xmlns:a16="http://schemas.microsoft.com/office/drawing/2014/main" id="{937D0AE8-CDA1-1E5E-F576-D4D57AF1772C}"/>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59E209D7-0F3E-DCEE-D411-9CF507FAC532}"/>
              </a:ext>
            </a:extLst>
          </p:cNvPr>
          <p:cNvSpPr txBox="1"/>
          <p:nvPr/>
        </p:nvSpPr>
        <p:spPr>
          <a:xfrm>
            <a:off x="96635" y="1108678"/>
            <a:ext cx="11922105" cy="4526496"/>
          </a:xfrm>
          <a:prstGeom prst="rect">
            <a:avLst/>
          </a:prstGeom>
          <a:noFill/>
        </p:spPr>
        <p:txBody>
          <a:bodyPr wrap="square">
            <a:spAutoFit/>
          </a:bodyPr>
          <a:lstStyle/>
          <a:p>
            <a:pPr algn="just">
              <a:lnSpc>
                <a:spcPts val="3200"/>
              </a:lnSpc>
              <a:spcBef>
                <a:spcPts val="1200"/>
              </a:spcBef>
            </a:pPr>
            <a:r>
              <a:rPr lang="en-US" sz="2400" dirty="0">
                <a:latin typeface="Microsoft JhengHei UI" panose="020B0604030504040204" pitchFamily="34" charset="-120"/>
                <a:ea typeface="Microsoft JhengHei UI" panose="020B0604030504040204" pitchFamily="34" charset="-120"/>
              </a:rPr>
              <a:t>Motivation and Need of the Project</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Increasing competition in B2C platforms requires better use of data for decision support.</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Manual pricing and content updates are time-consuming and inconsistent.</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Machine Learning can assist in identifying patterns in demand and sales data.</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Generative AI can help summarize customer feedback and generate consistent product descriptions.</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The project provides practical exposure to applying AI techniques in real-world business scenarios, aligned with industry practices.</a:t>
            </a:r>
          </a:p>
        </p:txBody>
      </p:sp>
      <p:sp>
        <p:nvSpPr>
          <p:cNvPr id="14" name="Rectangle 13">
            <a:extLst>
              <a:ext uri="{FF2B5EF4-FFF2-40B4-BE49-F238E27FC236}">
                <a16:creationId xmlns:a16="http://schemas.microsoft.com/office/drawing/2014/main" id="{06BFD484-B58D-3A73-0CFB-0725EF7F82EF}"/>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BF326CB7-6537-7142-25A0-73AFD02F5809}"/>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932624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793C4-FB19-C708-7626-7D3E70B097F2}"/>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5100F007-EC8D-7BFE-17D2-28154C6AD6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18A27E1C-7F0E-3708-5E11-B9942E04708E}"/>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CCB4977-E67D-7B4F-5CD9-57E333D76300}"/>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5</a:t>
            </a:fld>
            <a:endParaRPr lang="en-US" sz="1600" dirty="0"/>
          </a:p>
        </p:txBody>
      </p:sp>
      <p:sp>
        <p:nvSpPr>
          <p:cNvPr id="9" name="Rectangle 8">
            <a:extLst>
              <a:ext uri="{FF2B5EF4-FFF2-40B4-BE49-F238E27FC236}">
                <a16:creationId xmlns:a16="http://schemas.microsoft.com/office/drawing/2014/main" id="{244D76C6-F7E2-5779-B5AA-C4BCDF974B09}"/>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4ABF5DCF-256F-84BD-7849-061E874B2C76}"/>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OBJECTIVES OF THE PROJECT</a:t>
            </a:r>
          </a:p>
        </p:txBody>
      </p:sp>
      <p:pic>
        <p:nvPicPr>
          <p:cNvPr id="10" name="Google Shape;89;p1" descr="Logo, company name&#10;&#10;Description automatically generated">
            <a:extLst>
              <a:ext uri="{FF2B5EF4-FFF2-40B4-BE49-F238E27FC236}">
                <a16:creationId xmlns:a16="http://schemas.microsoft.com/office/drawing/2014/main" id="{979F7AD7-D6A0-AFE7-D257-DC7B62BC8CE1}"/>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9618893C-BEC3-860F-0A65-B6CF8264B64F}"/>
              </a:ext>
            </a:extLst>
          </p:cNvPr>
          <p:cNvSpPr txBox="1"/>
          <p:nvPr/>
        </p:nvSpPr>
        <p:spPr>
          <a:xfrm>
            <a:off x="96635" y="1108678"/>
            <a:ext cx="11922105" cy="4680384"/>
          </a:xfrm>
          <a:prstGeom prst="rect">
            <a:avLst/>
          </a:prstGeom>
          <a:noFill/>
        </p:spPr>
        <p:txBody>
          <a:bodyPr wrap="square">
            <a:spAutoFit/>
          </a:bodyPr>
          <a:lstStyle/>
          <a:p>
            <a:pPr algn="just">
              <a:lnSpc>
                <a:spcPts val="3200"/>
              </a:lnSpc>
              <a:spcBef>
                <a:spcPts val="1200"/>
              </a:spcBef>
            </a:pPr>
            <a:r>
              <a:rPr lang="en-US" sz="2400" dirty="0">
                <a:latin typeface="Microsoft JhengHei UI" panose="020B0604030504040204" pitchFamily="34" charset="-120"/>
                <a:ea typeface="Microsoft JhengHei UI" panose="020B0604030504040204" pitchFamily="34" charset="-120"/>
              </a:rPr>
              <a:t>Project Objectives</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To analyze historical sales, demand trends, and inventory data using Machine Learning techniques.</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To design a model that recommends an optimized price range for products.</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To apply Generative AI for automated product description generation.</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To summarize customer reviews into concise and meaningful insights.</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To integrate AI components with a Java-based backend architecture.</a:t>
            </a:r>
          </a:p>
          <a:p>
            <a:pPr marL="342900" indent="-342900" algn="just">
              <a:lnSpc>
                <a:spcPts val="3200"/>
              </a:lnSpc>
              <a:spcBef>
                <a:spcPts val="1200"/>
              </a:spcBef>
              <a:buFont typeface="Arial" panose="020B0604020202020204" pitchFamily="34" charset="0"/>
              <a:buChar char="•"/>
            </a:pPr>
            <a:r>
              <a:rPr lang="en-US" sz="2400" dirty="0">
                <a:latin typeface="Microsoft JhengHei UI" panose="020B0604030504040204" pitchFamily="34" charset="-120"/>
                <a:ea typeface="Microsoft JhengHei UI" panose="020B0604030504040204" pitchFamily="34" charset="-120"/>
              </a:rPr>
              <a:t>To demonstrate AI-assisted decision support in a controlled academic environment.</a:t>
            </a:r>
          </a:p>
        </p:txBody>
      </p:sp>
      <p:sp>
        <p:nvSpPr>
          <p:cNvPr id="14" name="Rectangle 13">
            <a:extLst>
              <a:ext uri="{FF2B5EF4-FFF2-40B4-BE49-F238E27FC236}">
                <a16:creationId xmlns:a16="http://schemas.microsoft.com/office/drawing/2014/main" id="{B836848B-2B74-92C9-49C4-115BC378BC44}"/>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2BD68AB2-9500-4955-6F5E-DBC307879233}"/>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136682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CBEE1-3CA9-01A6-4C10-216885DA8796}"/>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EA06A786-1064-9795-8D99-C605D0C63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9C0B9F58-59CE-24DF-C9C2-5D9B5FC0821D}"/>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01BCC3F-9B96-927D-C900-8A53756B2832}"/>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6</a:t>
            </a:fld>
            <a:endParaRPr lang="en-US" sz="1600" dirty="0"/>
          </a:p>
        </p:txBody>
      </p:sp>
      <p:sp>
        <p:nvSpPr>
          <p:cNvPr id="9" name="Rectangle 8">
            <a:extLst>
              <a:ext uri="{FF2B5EF4-FFF2-40B4-BE49-F238E27FC236}">
                <a16:creationId xmlns:a16="http://schemas.microsoft.com/office/drawing/2014/main" id="{B6C1308F-BFAF-74A3-0746-CFB437064F6B}"/>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5F285FDD-D9DA-215A-5F8D-82FAD23C970F}"/>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LITERATURE REVIEW</a:t>
            </a:r>
          </a:p>
        </p:txBody>
      </p:sp>
      <p:pic>
        <p:nvPicPr>
          <p:cNvPr id="10" name="Google Shape;89;p1" descr="Logo, company name&#10;&#10;Description automatically generated">
            <a:extLst>
              <a:ext uri="{FF2B5EF4-FFF2-40B4-BE49-F238E27FC236}">
                <a16:creationId xmlns:a16="http://schemas.microsoft.com/office/drawing/2014/main" id="{DCC2FDA0-5F92-F1F6-9302-C26B58F86B0B}"/>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1C769413-5CCD-4FC1-9B2C-68DF2A132D84}"/>
              </a:ext>
            </a:extLst>
          </p:cNvPr>
          <p:cNvSpPr txBox="1"/>
          <p:nvPr/>
        </p:nvSpPr>
        <p:spPr>
          <a:xfrm>
            <a:off x="447519" y="994241"/>
            <a:ext cx="11922105" cy="5324535"/>
          </a:xfrm>
          <a:prstGeom prst="rect">
            <a:avLst/>
          </a:prstGeom>
          <a:noFill/>
        </p:spPr>
        <p:txBody>
          <a:bodyPr wrap="square">
            <a:spAutoFit/>
          </a:bodyPr>
          <a:lstStyle/>
          <a:p>
            <a:pPr>
              <a:lnSpc>
                <a:spcPct val="150000"/>
              </a:lnSpc>
            </a:pPr>
            <a:r>
              <a:rPr lang="en-US" sz="2000" dirty="0">
                <a:latin typeface="Microsoft JhengHei UI" panose="020B0604030504040204" pitchFamily="34" charset="-120"/>
                <a:ea typeface="Microsoft JhengHei UI" panose="020B0604030504040204" pitchFamily="34" charset="-120"/>
              </a:rPr>
              <a:t>A research paper on </a:t>
            </a:r>
            <a:r>
              <a:rPr lang="en-US" sz="2000" b="1" dirty="0">
                <a:latin typeface="Microsoft JhengHei UI" panose="020B0604030504040204" pitchFamily="34" charset="-120"/>
                <a:ea typeface="Microsoft JhengHei UI" panose="020B0604030504040204" pitchFamily="34" charset="-120"/>
              </a:rPr>
              <a:t>Reinforcement Learning in Dynamic Pricing</a:t>
            </a:r>
            <a:r>
              <a:rPr lang="en-US" sz="2000" dirty="0">
                <a:latin typeface="Microsoft JhengHei UI" panose="020B0604030504040204" pitchFamily="34" charset="-120"/>
                <a:ea typeface="Microsoft JhengHei UI" panose="020B0604030504040204" pitchFamily="34" charset="-120"/>
              </a:rPr>
              <a:t> was studied</a:t>
            </a:r>
          </a:p>
          <a:p>
            <a:pPr>
              <a:lnSpc>
                <a:spcPct val="150000"/>
              </a:lnSpc>
            </a:pPr>
            <a:r>
              <a:rPr lang="en-US" sz="2000" dirty="0">
                <a:latin typeface="Microsoft JhengHei UI" panose="020B0604030504040204" pitchFamily="34" charset="-120"/>
                <a:ea typeface="Microsoft JhengHei UI" panose="020B0604030504040204" pitchFamily="34" charset="-120"/>
              </a:rPr>
              <a:t>It explains:</a:t>
            </a:r>
          </a:p>
          <a:p>
            <a:pPr lvl="1">
              <a:lnSpc>
                <a:spcPct val="150000"/>
              </a:lnSpc>
            </a:pPr>
            <a:r>
              <a:rPr lang="en-US" sz="2000" dirty="0">
                <a:latin typeface="Microsoft JhengHei UI" panose="020B0604030504040204" pitchFamily="34" charset="-120"/>
                <a:ea typeface="Microsoft JhengHei UI" panose="020B0604030504040204" pitchFamily="34" charset="-120"/>
              </a:rPr>
              <a:t>Pricing as a </a:t>
            </a:r>
            <a:r>
              <a:rPr lang="en-US" sz="2000" b="1" dirty="0">
                <a:latin typeface="Microsoft JhengHei UI" panose="020B0604030504040204" pitchFamily="34" charset="-120"/>
                <a:ea typeface="Microsoft JhengHei UI" panose="020B0604030504040204" pitchFamily="34" charset="-120"/>
              </a:rPr>
              <a:t>Markov Decision Process (MDP)</a:t>
            </a:r>
            <a:endParaRPr lang="en-US" sz="2000" dirty="0">
              <a:latin typeface="Microsoft JhengHei UI" panose="020B0604030504040204" pitchFamily="34" charset="-120"/>
              <a:ea typeface="Microsoft JhengHei UI" panose="020B0604030504040204" pitchFamily="34" charset="-120"/>
            </a:endParaRPr>
          </a:p>
          <a:p>
            <a:pPr lvl="1">
              <a:lnSpc>
                <a:spcPct val="150000"/>
              </a:lnSpc>
            </a:pPr>
            <a:r>
              <a:rPr lang="en-US" sz="2000" dirty="0">
                <a:latin typeface="Microsoft JhengHei UI" panose="020B0604030504040204" pitchFamily="34" charset="-120"/>
                <a:ea typeface="Microsoft JhengHei UI" panose="020B0604030504040204" pitchFamily="34" charset="-120"/>
              </a:rPr>
              <a:t>Use of RL (Q-learning, Policy Gradient)</a:t>
            </a:r>
          </a:p>
          <a:p>
            <a:pPr>
              <a:lnSpc>
                <a:spcPct val="150000"/>
              </a:lnSpc>
            </a:pPr>
            <a:r>
              <a:rPr lang="en-US" sz="2000" dirty="0">
                <a:latin typeface="Microsoft JhengHei UI" panose="020B0604030504040204" pitchFamily="34" charset="-120"/>
                <a:ea typeface="Microsoft JhengHei UI" panose="020B0604030504040204" pitchFamily="34" charset="-120"/>
              </a:rPr>
              <a:t>RL learns optimal pricing through interaction</a:t>
            </a:r>
          </a:p>
          <a:p>
            <a:pPr>
              <a:lnSpc>
                <a:spcPct val="150000"/>
              </a:lnSpc>
            </a:pPr>
            <a:r>
              <a:rPr lang="en-US" sz="2000" b="1" dirty="0">
                <a:latin typeface="Microsoft JhengHei UI" panose="020B0604030504040204" pitchFamily="34" charset="-120"/>
                <a:ea typeface="Microsoft JhengHei UI" panose="020B0604030504040204" pitchFamily="34" charset="-120"/>
              </a:rPr>
              <a:t>Key Findings:</a:t>
            </a:r>
          </a:p>
          <a:p>
            <a:pPr marL="742950" lvl="1" indent="-285750">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RL improves revenue compared to traditional models</a:t>
            </a:r>
          </a:p>
          <a:p>
            <a:pPr marL="742950" lvl="1" indent="-285750">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Handles dynamic market conditions better</a:t>
            </a:r>
          </a:p>
          <a:p>
            <a:pPr>
              <a:lnSpc>
                <a:spcPct val="150000"/>
              </a:lnSpc>
            </a:pPr>
            <a:r>
              <a:rPr lang="en-US" sz="2000" b="1" dirty="0">
                <a:latin typeface="Microsoft JhengHei UI" panose="020B0604030504040204" pitchFamily="34" charset="-120"/>
                <a:ea typeface="Microsoft JhengHei UI" panose="020B0604030504040204" pitchFamily="34" charset="-120"/>
              </a:rPr>
              <a:t>Our Approach:</a:t>
            </a:r>
          </a:p>
          <a:p>
            <a:pPr>
              <a:lnSpc>
                <a:spcPct val="150000"/>
              </a:lnSpc>
            </a:pPr>
            <a:r>
              <a:rPr lang="en-US" sz="2000" dirty="0">
                <a:latin typeface="Microsoft JhengHei UI" panose="020B0604030504040204" pitchFamily="34" charset="-120"/>
                <a:ea typeface="Microsoft JhengHei UI" panose="020B0604030504040204" pitchFamily="34" charset="-120"/>
              </a:rPr>
              <a:t>Instead of full RL, we use:</a:t>
            </a:r>
          </a:p>
          <a:p>
            <a:pPr marL="742950" lvl="1" indent="-285750">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ML demand prediction</a:t>
            </a:r>
          </a:p>
          <a:p>
            <a:pPr marL="742950" lvl="1" indent="-285750">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Elasticity-based pricing</a:t>
            </a:r>
          </a:p>
          <a:p>
            <a:pPr marL="742950" lvl="1" indent="-285750">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Visualization + AI insights</a:t>
            </a:r>
          </a:p>
        </p:txBody>
      </p:sp>
      <p:sp>
        <p:nvSpPr>
          <p:cNvPr id="14" name="Rectangle 13">
            <a:extLst>
              <a:ext uri="{FF2B5EF4-FFF2-40B4-BE49-F238E27FC236}">
                <a16:creationId xmlns:a16="http://schemas.microsoft.com/office/drawing/2014/main" id="{D60F33E4-6BAF-5EEB-854B-323FA8F43D54}"/>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D9AAFECC-EA83-E079-AAE1-86DDEDA117DB}"/>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2335667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4AB5-2A15-DF6C-2293-7F7813364484}"/>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C782F2C0-AC77-3DE2-7371-7E8155C1C1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C816316E-A3FF-B1F9-C914-769F0D6654B0}"/>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49D9424-A8BA-4124-A5D6-BF46BB3CA074}"/>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7</a:t>
            </a:fld>
            <a:endParaRPr lang="en-US" sz="1600" dirty="0"/>
          </a:p>
        </p:txBody>
      </p:sp>
      <p:sp>
        <p:nvSpPr>
          <p:cNvPr id="9" name="Rectangle 8">
            <a:extLst>
              <a:ext uri="{FF2B5EF4-FFF2-40B4-BE49-F238E27FC236}">
                <a16:creationId xmlns:a16="http://schemas.microsoft.com/office/drawing/2014/main" id="{87CD0495-6437-96AB-EE73-9A1FA2D32C2A}"/>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60A6CADB-F72C-94CD-1572-A6FBC963FB73}"/>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SYSTEM DESIGN AND METHODOLOGY</a:t>
            </a:r>
          </a:p>
        </p:txBody>
      </p:sp>
      <p:pic>
        <p:nvPicPr>
          <p:cNvPr id="10" name="Google Shape;89;p1" descr="Logo, company name&#10;&#10;Description automatically generated">
            <a:extLst>
              <a:ext uri="{FF2B5EF4-FFF2-40B4-BE49-F238E27FC236}">
                <a16:creationId xmlns:a16="http://schemas.microsoft.com/office/drawing/2014/main" id="{5E76288D-4113-0AFE-0958-DDBDD53FB913}"/>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Rectangle 13">
            <a:extLst>
              <a:ext uri="{FF2B5EF4-FFF2-40B4-BE49-F238E27FC236}">
                <a16:creationId xmlns:a16="http://schemas.microsoft.com/office/drawing/2014/main" id="{4804FCE8-7581-E274-F95C-A1AAAD00C1B5}"/>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DF145A2F-6097-7F3C-861C-5922ABC99DF3}"/>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pic>
        <p:nvPicPr>
          <p:cNvPr id="4" name="Picture 2">
            <a:extLst>
              <a:ext uri="{FF2B5EF4-FFF2-40B4-BE49-F238E27FC236}">
                <a16:creationId xmlns:a16="http://schemas.microsoft.com/office/drawing/2014/main" id="{4E266B6F-999C-32E6-C38F-9FED472B6A8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4239" y="1645737"/>
            <a:ext cx="5974672" cy="4335262"/>
          </a:xfrm>
          <a:prstGeom prst="rect">
            <a:avLst/>
          </a:prstGeom>
        </p:spPr>
        <p:style>
          <a:lnRef idx="1">
            <a:schemeClr val="dk1"/>
          </a:lnRef>
          <a:fillRef idx="0">
            <a:schemeClr val="dk1"/>
          </a:fillRef>
          <a:effectRef idx="0">
            <a:schemeClr val="dk1"/>
          </a:effectRef>
          <a:fontRef idx="minor">
            <a:schemeClr val="tx1"/>
          </a:fontRef>
        </p:style>
      </p:pic>
      <p:cxnSp>
        <p:nvCxnSpPr>
          <p:cNvPr id="19" name="Straight Arrow Connector 18">
            <a:extLst>
              <a:ext uri="{FF2B5EF4-FFF2-40B4-BE49-F238E27FC236}">
                <a16:creationId xmlns:a16="http://schemas.microsoft.com/office/drawing/2014/main" id="{8BCF1BAA-DE23-A887-1612-8AF43EE69E41}"/>
              </a:ext>
            </a:extLst>
          </p:cNvPr>
          <p:cNvCxnSpPr/>
          <p:nvPr/>
        </p:nvCxnSpPr>
        <p:spPr>
          <a:xfrm flipV="1">
            <a:off x="4384548" y="2603371"/>
            <a:ext cx="0" cy="4572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C9147EB6-04CC-94C2-1919-BB95BD1F38E2}"/>
                  </a:ext>
                </a:extLst>
              </p14:cNvPr>
              <p14:cNvContentPartPr/>
              <p14:nvPr/>
            </p14:nvContentPartPr>
            <p14:xfrm>
              <a:off x="4099440" y="2552520"/>
              <a:ext cx="360" cy="360"/>
            </p14:xfrm>
          </p:contentPart>
        </mc:Choice>
        <mc:Fallback xmlns="">
          <p:pic>
            <p:nvPicPr>
              <p:cNvPr id="20" name="Ink 19">
                <a:extLst>
                  <a:ext uri="{FF2B5EF4-FFF2-40B4-BE49-F238E27FC236}">
                    <a16:creationId xmlns:a16="http://schemas.microsoft.com/office/drawing/2014/main" id="{C9147EB6-04CC-94C2-1919-BB95BD1F38E2}"/>
                  </a:ext>
                </a:extLst>
              </p:cNvPr>
              <p:cNvPicPr/>
              <p:nvPr/>
            </p:nvPicPr>
            <p:blipFill>
              <a:blip r:embed="rId7"/>
              <a:stretch>
                <a:fillRect/>
              </a:stretch>
            </p:blipFill>
            <p:spPr>
              <a:xfrm>
                <a:off x="4045800" y="244452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114C92AA-68F7-4B35-F02C-D43B80430759}"/>
                  </a:ext>
                </a:extLst>
              </p14:cNvPr>
              <p14:cNvContentPartPr/>
              <p14:nvPr/>
            </p14:nvContentPartPr>
            <p14:xfrm>
              <a:off x="4085040" y="2539200"/>
              <a:ext cx="7200" cy="21240"/>
            </p14:xfrm>
          </p:contentPart>
        </mc:Choice>
        <mc:Fallback xmlns="">
          <p:pic>
            <p:nvPicPr>
              <p:cNvPr id="21" name="Ink 20">
                <a:extLst>
                  <a:ext uri="{FF2B5EF4-FFF2-40B4-BE49-F238E27FC236}">
                    <a16:creationId xmlns:a16="http://schemas.microsoft.com/office/drawing/2014/main" id="{114C92AA-68F7-4B35-F02C-D43B80430759}"/>
                  </a:ext>
                </a:extLst>
              </p:cNvPr>
              <p:cNvPicPr/>
              <p:nvPr/>
            </p:nvPicPr>
            <p:blipFill>
              <a:blip r:embed="rId9"/>
              <a:stretch>
                <a:fillRect/>
              </a:stretch>
            </p:blipFill>
            <p:spPr>
              <a:xfrm>
                <a:off x="4031040" y="2431560"/>
                <a:ext cx="1148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A9D6A8D9-1113-AE81-E657-FEA61E3AE4AB}"/>
                  </a:ext>
                </a:extLst>
              </p14:cNvPr>
              <p14:cNvContentPartPr/>
              <p14:nvPr/>
            </p14:nvContentPartPr>
            <p14:xfrm>
              <a:off x="4076400" y="2453520"/>
              <a:ext cx="123120" cy="360"/>
            </p14:xfrm>
          </p:contentPart>
        </mc:Choice>
        <mc:Fallback xmlns="">
          <p:pic>
            <p:nvPicPr>
              <p:cNvPr id="22" name="Ink 21">
                <a:extLst>
                  <a:ext uri="{FF2B5EF4-FFF2-40B4-BE49-F238E27FC236}">
                    <a16:creationId xmlns:a16="http://schemas.microsoft.com/office/drawing/2014/main" id="{A9D6A8D9-1113-AE81-E657-FEA61E3AE4AB}"/>
                  </a:ext>
                </a:extLst>
              </p:cNvPr>
              <p:cNvPicPr/>
              <p:nvPr/>
            </p:nvPicPr>
            <p:blipFill>
              <a:blip r:embed="rId11"/>
              <a:stretch>
                <a:fillRect/>
              </a:stretch>
            </p:blipFill>
            <p:spPr>
              <a:xfrm>
                <a:off x="4022760" y="2345520"/>
                <a:ext cx="2307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8786AEA8-0C35-54AD-2122-2E80185CCB29}"/>
                  </a:ext>
                </a:extLst>
              </p14:cNvPr>
              <p14:cNvContentPartPr/>
              <p14:nvPr/>
            </p14:nvContentPartPr>
            <p14:xfrm>
              <a:off x="4084320" y="2430840"/>
              <a:ext cx="360" cy="360"/>
            </p14:xfrm>
          </p:contentPart>
        </mc:Choice>
        <mc:Fallback xmlns="">
          <p:pic>
            <p:nvPicPr>
              <p:cNvPr id="23" name="Ink 22">
                <a:extLst>
                  <a:ext uri="{FF2B5EF4-FFF2-40B4-BE49-F238E27FC236}">
                    <a16:creationId xmlns:a16="http://schemas.microsoft.com/office/drawing/2014/main" id="{8786AEA8-0C35-54AD-2122-2E80185CCB29}"/>
                  </a:ext>
                </a:extLst>
              </p:cNvPr>
              <p:cNvPicPr/>
              <p:nvPr/>
            </p:nvPicPr>
            <p:blipFill>
              <a:blip r:embed="rId7"/>
              <a:stretch>
                <a:fillRect/>
              </a:stretch>
            </p:blipFill>
            <p:spPr>
              <a:xfrm>
                <a:off x="4030680" y="2322840"/>
                <a:ext cx="108000" cy="216000"/>
              </a:xfrm>
              <a:prstGeom prst="rect">
                <a:avLst/>
              </a:prstGeom>
            </p:spPr>
          </p:pic>
        </mc:Fallback>
      </mc:AlternateContent>
      <p:sp>
        <p:nvSpPr>
          <p:cNvPr id="24" name="Rectangle 23">
            <a:extLst>
              <a:ext uri="{FF2B5EF4-FFF2-40B4-BE49-F238E27FC236}">
                <a16:creationId xmlns:a16="http://schemas.microsoft.com/office/drawing/2014/main" id="{3A81D538-D3B4-50BD-3B2D-73EC0271C6C5}"/>
              </a:ext>
            </a:extLst>
          </p:cNvPr>
          <p:cNvSpPr/>
          <p:nvPr/>
        </p:nvSpPr>
        <p:spPr>
          <a:xfrm>
            <a:off x="4485447" y="2622422"/>
            <a:ext cx="237120" cy="41909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5" name="TextBox 24">
            <a:extLst>
              <a:ext uri="{FF2B5EF4-FFF2-40B4-BE49-F238E27FC236}">
                <a16:creationId xmlns:a16="http://schemas.microsoft.com/office/drawing/2014/main" id="{05DEE0D8-6454-5C24-3CBA-B5B753ABDD45}"/>
              </a:ext>
            </a:extLst>
          </p:cNvPr>
          <p:cNvSpPr txBox="1"/>
          <p:nvPr/>
        </p:nvSpPr>
        <p:spPr>
          <a:xfrm>
            <a:off x="270933" y="1376661"/>
            <a:ext cx="2342180" cy="369332"/>
          </a:xfrm>
          <a:prstGeom prst="rect">
            <a:avLst/>
          </a:prstGeom>
          <a:noFill/>
        </p:spPr>
        <p:txBody>
          <a:bodyPr wrap="none" rtlCol="0">
            <a:spAutoFit/>
          </a:bodyPr>
          <a:lstStyle/>
          <a:p>
            <a:r>
              <a:rPr lang="en-IN" dirty="0">
                <a:latin typeface="Microsoft JhengHei UI" panose="020B0604030504040204" pitchFamily="34" charset="-120"/>
                <a:ea typeface="Microsoft JhengHei UI" panose="020B0604030504040204" pitchFamily="34" charset="-120"/>
              </a:rPr>
              <a:t>System Architecture</a:t>
            </a:r>
          </a:p>
        </p:txBody>
      </p:sp>
    </p:spTree>
    <p:extLst>
      <p:ext uri="{BB962C8B-B14F-4D97-AF65-F5344CB8AC3E}">
        <p14:creationId xmlns:p14="http://schemas.microsoft.com/office/powerpoint/2010/main" val="3551683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4E1AA-76B0-045A-6107-29CBE3A0E53F}"/>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04BA694-DEC6-DAAC-BBA9-3624A66B4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A817E2C8-D086-8AF5-7F67-3C79E0DEB8B5}"/>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786262CF-29AF-2382-F457-4D45F062531B}"/>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8</a:t>
            </a:fld>
            <a:endParaRPr lang="en-US" sz="1600" dirty="0"/>
          </a:p>
        </p:txBody>
      </p:sp>
      <p:sp>
        <p:nvSpPr>
          <p:cNvPr id="9" name="Rectangle 8">
            <a:extLst>
              <a:ext uri="{FF2B5EF4-FFF2-40B4-BE49-F238E27FC236}">
                <a16:creationId xmlns:a16="http://schemas.microsoft.com/office/drawing/2014/main" id="{F368D96F-6FEC-8F47-8C0B-BBEEBE355FAF}"/>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28ACD814-6902-FA69-4B04-A5729732C54C}"/>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SYSTEM DESIGN AND METHODOLOGY</a:t>
            </a:r>
          </a:p>
        </p:txBody>
      </p:sp>
      <p:pic>
        <p:nvPicPr>
          <p:cNvPr id="10" name="Google Shape;89;p1" descr="Logo, company name&#10;&#10;Description automatically generated">
            <a:extLst>
              <a:ext uri="{FF2B5EF4-FFF2-40B4-BE49-F238E27FC236}">
                <a16:creationId xmlns:a16="http://schemas.microsoft.com/office/drawing/2014/main" id="{CF25C746-1D55-B690-1ABB-59D32906B4A1}"/>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Rectangle 13">
            <a:extLst>
              <a:ext uri="{FF2B5EF4-FFF2-40B4-BE49-F238E27FC236}">
                <a16:creationId xmlns:a16="http://schemas.microsoft.com/office/drawing/2014/main" id="{09F6D454-9D9E-0F73-E681-37A11E4A7F0C}"/>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8916ABEC-9923-1DE3-8EA2-B83FF53DCD5F}"/>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95CFD2CE-90CC-2E5F-C42D-198177FFFEFD}"/>
                  </a:ext>
                </a:extLst>
              </p14:cNvPr>
              <p14:cNvContentPartPr/>
              <p14:nvPr/>
            </p14:nvContentPartPr>
            <p14:xfrm>
              <a:off x="4099440" y="2552520"/>
              <a:ext cx="360" cy="360"/>
            </p14:xfrm>
          </p:contentPart>
        </mc:Choice>
        <mc:Fallback xmlns="">
          <p:pic>
            <p:nvPicPr>
              <p:cNvPr id="20" name="Ink 19">
                <a:extLst>
                  <a:ext uri="{FF2B5EF4-FFF2-40B4-BE49-F238E27FC236}">
                    <a16:creationId xmlns:a16="http://schemas.microsoft.com/office/drawing/2014/main" id="{95CFD2CE-90CC-2E5F-C42D-198177FFFEFD}"/>
                  </a:ext>
                </a:extLst>
              </p:cNvPr>
              <p:cNvPicPr/>
              <p:nvPr/>
            </p:nvPicPr>
            <p:blipFill>
              <a:blip r:embed="rId6"/>
              <a:stretch>
                <a:fillRect/>
              </a:stretch>
            </p:blipFill>
            <p:spPr>
              <a:xfrm>
                <a:off x="4045800" y="244452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2CBA1B76-8C55-5090-EE69-BA33697F146B}"/>
                  </a:ext>
                </a:extLst>
              </p14:cNvPr>
              <p14:cNvContentPartPr/>
              <p14:nvPr/>
            </p14:nvContentPartPr>
            <p14:xfrm>
              <a:off x="4085040" y="2539200"/>
              <a:ext cx="7200" cy="21240"/>
            </p14:xfrm>
          </p:contentPart>
        </mc:Choice>
        <mc:Fallback xmlns="">
          <p:pic>
            <p:nvPicPr>
              <p:cNvPr id="21" name="Ink 20">
                <a:extLst>
                  <a:ext uri="{FF2B5EF4-FFF2-40B4-BE49-F238E27FC236}">
                    <a16:creationId xmlns:a16="http://schemas.microsoft.com/office/drawing/2014/main" id="{2CBA1B76-8C55-5090-EE69-BA33697F146B}"/>
                  </a:ext>
                </a:extLst>
              </p:cNvPr>
              <p:cNvPicPr/>
              <p:nvPr/>
            </p:nvPicPr>
            <p:blipFill>
              <a:blip r:embed="rId8"/>
              <a:stretch>
                <a:fillRect/>
              </a:stretch>
            </p:blipFill>
            <p:spPr>
              <a:xfrm>
                <a:off x="4031040" y="2431560"/>
                <a:ext cx="1148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13C59F54-C209-29E1-6E4F-7DE409F0D54C}"/>
                  </a:ext>
                </a:extLst>
              </p14:cNvPr>
              <p14:cNvContentPartPr/>
              <p14:nvPr/>
            </p14:nvContentPartPr>
            <p14:xfrm>
              <a:off x="4076400" y="2453520"/>
              <a:ext cx="123120" cy="360"/>
            </p14:xfrm>
          </p:contentPart>
        </mc:Choice>
        <mc:Fallback xmlns="">
          <p:pic>
            <p:nvPicPr>
              <p:cNvPr id="22" name="Ink 21">
                <a:extLst>
                  <a:ext uri="{FF2B5EF4-FFF2-40B4-BE49-F238E27FC236}">
                    <a16:creationId xmlns:a16="http://schemas.microsoft.com/office/drawing/2014/main" id="{13C59F54-C209-29E1-6E4F-7DE409F0D54C}"/>
                  </a:ext>
                </a:extLst>
              </p:cNvPr>
              <p:cNvPicPr/>
              <p:nvPr/>
            </p:nvPicPr>
            <p:blipFill>
              <a:blip r:embed="rId10"/>
              <a:stretch>
                <a:fillRect/>
              </a:stretch>
            </p:blipFill>
            <p:spPr>
              <a:xfrm>
                <a:off x="4022760" y="2345520"/>
                <a:ext cx="2307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D138B81E-31D1-A578-07A2-53F5CA4B274C}"/>
                  </a:ext>
                </a:extLst>
              </p14:cNvPr>
              <p14:cNvContentPartPr/>
              <p14:nvPr/>
            </p14:nvContentPartPr>
            <p14:xfrm>
              <a:off x="4084320" y="2430840"/>
              <a:ext cx="360" cy="360"/>
            </p14:xfrm>
          </p:contentPart>
        </mc:Choice>
        <mc:Fallback xmlns="">
          <p:pic>
            <p:nvPicPr>
              <p:cNvPr id="23" name="Ink 22">
                <a:extLst>
                  <a:ext uri="{FF2B5EF4-FFF2-40B4-BE49-F238E27FC236}">
                    <a16:creationId xmlns:a16="http://schemas.microsoft.com/office/drawing/2014/main" id="{D138B81E-31D1-A578-07A2-53F5CA4B274C}"/>
                  </a:ext>
                </a:extLst>
              </p:cNvPr>
              <p:cNvPicPr/>
              <p:nvPr/>
            </p:nvPicPr>
            <p:blipFill>
              <a:blip r:embed="rId6"/>
              <a:stretch>
                <a:fillRect/>
              </a:stretch>
            </p:blipFill>
            <p:spPr>
              <a:xfrm>
                <a:off x="4030680" y="2322840"/>
                <a:ext cx="108000" cy="216000"/>
              </a:xfrm>
              <a:prstGeom prst="rect">
                <a:avLst/>
              </a:prstGeom>
            </p:spPr>
          </p:pic>
        </mc:Fallback>
      </mc:AlternateContent>
      <p:pic>
        <p:nvPicPr>
          <p:cNvPr id="5" name="Picture 4">
            <a:extLst>
              <a:ext uri="{FF2B5EF4-FFF2-40B4-BE49-F238E27FC236}">
                <a16:creationId xmlns:a16="http://schemas.microsoft.com/office/drawing/2014/main" id="{94938F8B-C9A7-FC24-D3F0-2848C6A0E9BD}"/>
              </a:ext>
            </a:extLst>
          </p:cNvPr>
          <p:cNvPicPr>
            <a:picLocks noChangeAspect="1"/>
          </p:cNvPicPr>
          <p:nvPr/>
        </p:nvPicPr>
        <p:blipFill>
          <a:blip r:embed="rId12"/>
          <a:stretch>
            <a:fillRect/>
          </a:stretch>
        </p:blipFill>
        <p:spPr>
          <a:xfrm>
            <a:off x="0" y="2210825"/>
            <a:ext cx="12192000" cy="3025921"/>
          </a:xfrm>
          <a:prstGeom prst="rect">
            <a:avLst/>
          </a:prstGeom>
        </p:spPr>
      </p:pic>
      <p:sp>
        <p:nvSpPr>
          <p:cNvPr id="6" name="TextBox 5">
            <a:extLst>
              <a:ext uri="{FF2B5EF4-FFF2-40B4-BE49-F238E27FC236}">
                <a16:creationId xmlns:a16="http://schemas.microsoft.com/office/drawing/2014/main" id="{B0F25484-CC38-A2E2-2E33-02C959C53E6C}"/>
              </a:ext>
            </a:extLst>
          </p:cNvPr>
          <p:cNvSpPr txBox="1"/>
          <p:nvPr/>
        </p:nvSpPr>
        <p:spPr>
          <a:xfrm>
            <a:off x="1117600" y="1759246"/>
            <a:ext cx="1447832" cy="369332"/>
          </a:xfrm>
          <a:prstGeom prst="rect">
            <a:avLst/>
          </a:prstGeom>
          <a:noFill/>
        </p:spPr>
        <p:txBody>
          <a:bodyPr wrap="none" rtlCol="0">
            <a:spAutoFit/>
          </a:bodyPr>
          <a:lstStyle/>
          <a:p>
            <a:r>
              <a:rPr lang="en-IN" dirty="0">
                <a:latin typeface="Microsoft JhengHei UI" panose="020B0604030504040204" pitchFamily="34" charset="-120"/>
                <a:ea typeface="Microsoft JhengHei UI" panose="020B0604030504040204" pitchFamily="34" charset="-120"/>
              </a:rPr>
              <a:t>ER Diagram</a:t>
            </a:r>
          </a:p>
        </p:txBody>
      </p:sp>
    </p:spTree>
    <p:extLst>
      <p:ext uri="{BB962C8B-B14F-4D97-AF65-F5344CB8AC3E}">
        <p14:creationId xmlns:p14="http://schemas.microsoft.com/office/powerpoint/2010/main" val="40641593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FA021-E84F-C990-CF44-E1DE534B594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F86BFD5-DA3C-3A57-FC36-ECEA882803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3BA40823-0076-2B1F-4991-9C9BB27D5FD6}"/>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88C4737-279E-38C8-198D-DB842BEA95E8}"/>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9</a:t>
            </a:fld>
            <a:endParaRPr lang="en-US" sz="1600" dirty="0"/>
          </a:p>
        </p:txBody>
      </p:sp>
      <p:sp>
        <p:nvSpPr>
          <p:cNvPr id="9" name="Rectangle 8">
            <a:extLst>
              <a:ext uri="{FF2B5EF4-FFF2-40B4-BE49-F238E27FC236}">
                <a16:creationId xmlns:a16="http://schemas.microsoft.com/office/drawing/2014/main" id="{56F929D1-5B20-23C7-0E28-4CC1D89A5314}"/>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A39574B0-EEE0-FE1B-A01F-4B9443ABBD35}"/>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SYSTEM DESIGN AND METHODOLOGY</a:t>
            </a:r>
          </a:p>
        </p:txBody>
      </p:sp>
      <p:pic>
        <p:nvPicPr>
          <p:cNvPr id="10" name="Google Shape;89;p1" descr="Logo, company name&#10;&#10;Description automatically generated">
            <a:extLst>
              <a:ext uri="{FF2B5EF4-FFF2-40B4-BE49-F238E27FC236}">
                <a16:creationId xmlns:a16="http://schemas.microsoft.com/office/drawing/2014/main" id="{32444B5B-19D8-1338-8EA5-C105BA4AC2ED}"/>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Rectangle 13">
            <a:extLst>
              <a:ext uri="{FF2B5EF4-FFF2-40B4-BE49-F238E27FC236}">
                <a16:creationId xmlns:a16="http://schemas.microsoft.com/office/drawing/2014/main" id="{E11E8EC6-BEF6-4446-4F41-F91F0ABCE5B9}"/>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1002E440-4038-7F6F-20FF-C5B2E9236ABE}"/>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705F0F8F-CE4C-1C57-D251-6A451636B04C}"/>
                  </a:ext>
                </a:extLst>
              </p14:cNvPr>
              <p14:cNvContentPartPr/>
              <p14:nvPr/>
            </p14:nvContentPartPr>
            <p14:xfrm>
              <a:off x="4099440" y="2552520"/>
              <a:ext cx="360" cy="360"/>
            </p14:xfrm>
          </p:contentPart>
        </mc:Choice>
        <mc:Fallback xmlns="">
          <p:pic>
            <p:nvPicPr>
              <p:cNvPr id="20" name="Ink 19">
                <a:extLst>
                  <a:ext uri="{FF2B5EF4-FFF2-40B4-BE49-F238E27FC236}">
                    <a16:creationId xmlns:a16="http://schemas.microsoft.com/office/drawing/2014/main" id="{705F0F8F-CE4C-1C57-D251-6A451636B04C}"/>
                  </a:ext>
                </a:extLst>
              </p:cNvPr>
              <p:cNvPicPr/>
              <p:nvPr/>
            </p:nvPicPr>
            <p:blipFill>
              <a:blip r:embed="rId6"/>
              <a:stretch>
                <a:fillRect/>
              </a:stretch>
            </p:blipFill>
            <p:spPr>
              <a:xfrm>
                <a:off x="4045800" y="244452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8EA5695B-9592-A46D-9E83-5416DA203B1B}"/>
                  </a:ext>
                </a:extLst>
              </p14:cNvPr>
              <p14:cNvContentPartPr/>
              <p14:nvPr/>
            </p14:nvContentPartPr>
            <p14:xfrm>
              <a:off x="4085040" y="2539200"/>
              <a:ext cx="7200" cy="21240"/>
            </p14:xfrm>
          </p:contentPart>
        </mc:Choice>
        <mc:Fallback xmlns="">
          <p:pic>
            <p:nvPicPr>
              <p:cNvPr id="21" name="Ink 20">
                <a:extLst>
                  <a:ext uri="{FF2B5EF4-FFF2-40B4-BE49-F238E27FC236}">
                    <a16:creationId xmlns:a16="http://schemas.microsoft.com/office/drawing/2014/main" id="{8EA5695B-9592-A46D-9E83-5416DA203B1B}"/>
                  </a:ext>
                </a:extLst>
              </p:cNvPr>
              <p:cNvPicPr/>
              <p:nvPr/>
            </p:nvPicPr>
            <p:blipFill>
              <a:blip r:embed="rId8"/>
              <a:stretch>
                <a:fillRect/>
              </a:stretch>
            </p:blipFill>
            <p:spPr>
              <a:xfrm>
                <a:off x="4031040" y="2431560"/>
                <a:ext cx="11484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C4FFCE44-02DC-B05A-FB43-9B63623B6CA7}"/>
                  </a:ext>
                </a:extLst>
              </p14:cNvPr>
              <p14:cNvContentPartPr/>
              <p14:nvPr/>
            </p14:nvContentPartPr>
            <p14:xfrm>
              <a:off x="4084320" y="2430840"/>
              <a:ext cx="360" cy="360"/>
            </p14:xfrm>
          </p:contentPart>
        </mc:Choice>
        <mc:Fallback xmlns="">
          <p:pic>
            <p:nvPicPr>
              <p:cNvPr id="23" name="Ink 22">
                <a:extLst>
                  <a:ext uri="{FF2B5EF4-FFF2-40B4-BE49-F238E27FC236}">
                    <a16:creationId xmlns:a16="http://schemas.microsoft.com/office/drawing/2014/main" id="{C4FFCE44-02DC-B05A-FB43-9B63623B6CA7}"/>
                  </a:ext>
                </a:extLst>
              </p:cNvPr>
              <p:cNvPicPr/>
              <p:nvPr/>
            </p:nvPicPr>
            <p:blipFill>
              <a:blip r:embed="rId6"/>
              <a:stretch>
                <a:fillRect/>
              </a:stretch>
            </p:blipFill>
            <p:spPr>
              <a:xfrm>
                <a:off x="4030680" y="2322840"/>
                <a:ext cx="108000" cy="216000"/>
              </a:xfrm>
              <a:prstGeom prst="rect">
                <a:avLst/>
              </a:prstGeom>
            </p:spPr>
          </p:pic>
        </mc:Fallback>
      </mc:AlternateContent>
      <p:sp>
        <p:nvSpPr>
          <p:cNvPr id="24" name="Rectangle 23">
            <a:extLst>
              <a:ext uri="{FF2B5EF4-FFF2-40B4-BE49-F238E27FC236}">
                <a16:creationId xmlns:a16="http://schemas.microsoft.com/office/drawing/2014/main" id="{E5D4D0E9-BD09-3734-3B36-1EA557214F39}"/>
              </a:ext>
            </a:extLst>
          </p:cNvPr>
          <p:cNvSpPr/>
          <p:nvPr/>
        </p:nvSpPr>
        <p:spPr>
          <a:xfrm>
            <a:off x="3962400" y="2238374"/>
            <a:ext cx="237120" cy="41909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AB6BDDE8-B558-5192-999B-BE76C5A8A0D1}"/>
              </a:ext>
            </a:extLst>
          </p:cNvPr>
          <p:cNvPicPr>
            <a:picLocks noChangeAspect="1"/>
          </p:cNvPicPr>
          <p:nvPr/>
        </p:nvPicPr>
        <p:blipFill>
          <a:blip r:embed="rId10"/>
          <a:stretch>
            <a:fillRect/>
          </a:stretch>
        </p:blipFill>
        <p:spPr>
          <a:xfrm>
            <a:off x="429801" y="1450123"/>
            <a:ext cx="4475970" cy="1411978"/>
          </a:xfrm>
          <a:prstGeom prst="rect">
            <a:avLst/>
          </a:prstGeom>
        </p:spPr>
      </p:pic>
      <p:pic>
        <p:nvPicPr>
          <p:cNvPr id="6" name="Picture 5">
            <a:extLst>
              <a:ext uri="{FF2B5EF4-FFF2-40B4-BE49-F238E27FC236}">
                <a16:creationId xmlns:a16="http://schemas.microsoft.com/office/drawing/2014/main" id="{D4FDE5F6-C9F8-6BF7-88D9-910224A430A2}"/>
              </a:ext>
            </a:extLst>
          </p:cNvPr>
          <p:cNvPicPr>
            <a:picLocks noChangeAspect="1"/>
          </p:cNvPicPr>
          <p:nvPr/>
        </p:nvPicPr>
        <p:blipFill>
          <a:blip r:embed="rId11"/>
          <a:stretch>
            <a:fillRect/>
          </a:stretch>
        </p:blipFill>
        <p:spPr>
          <a:xfrm>
            <a:off x="7918881" y="1382689"/>
            <a:ext cx="2950090" cy="4298295"/>
          </a:xfrm>
          <a:prstGeom prst="rect">
            <a:avLst/>
          </a:prstGeom>
        </p:spPr>
      </p:pic>
      <p:pic>
        <p:nvPicPr>
          <p:cNvPr id="7" name="Picture 6">
            <a:extLst>
              <a:ext uri="{FF2B5EF4-FFF2-40B4-BE49-F238E27FC236}">
                <a16:creationId xmlns:a16="http://schemas.microsoft.com/office/drawing/2014/main" id="{A22383CF-81ED-D02D-41BF-C2A1B9EC3F13}"/>
              </a:ext>
            </a:extLst>
          </p:cNvPr>
          <p:cNvPicPr>
            <a:picLocks noChangeAspect="1"/>
          </p:cNvPicPr>
          <p:nvPr/>
        </p:nvPicPr>
        <p:blipFill>
          <a:blip r:embed="rId12"/>
          <a:stretch>
            <a:fillRect/>
          </a:stretch>
        </p:blipFill>
        <p:spPr>
          <a:xfrm>
            <a:off x="318044" y="3650352"/>
            <a:ext cx="6530750" cy="1277287"/>
          </a:xfrm>
          <a:prstGeom prst="rect">
            <a:avLst/>
          </a:prstGeom>
        </p:spPr>
      </p:pic>
      <p:sp>
        <p:nvSpPr>
          <p:cNvPr id="11" name="TextBox 10">
            <a:extLst>
              <a:ext uri="{FF2B5EF4-FFF2-40B4-BE49-F238E27FC236}">
                <a16:creationId xmlns:a16="http://schemas.microsoft.com/office/drawing/2014/main" id="{407E9817-8388-1653-1D59-8D6ED526EC57}"/>
              </a:ext>
            </a:extLst>
          </p:cNvPr>
          <p:cNvSpPr txBox="1"/>
          <p:nvPr/>
        </p:nvSpPr>
        <p:spPr>
          <a:xfrm>
            <a:off x="329082" y="1198023"/>
            <a:ext cx="1457579" cy="369332"/>
          </a:xfrm>
          <a:prstGeom prst="rect">
            <a:avLst/>
          </a:prstGeom>
          <a:noFill/>
        </p:spPr>
        <p:txBody>
          <a:bodyPr wrap="none" rtlCol="0">
            <a:spAutoFit/>
          </a:bodyPr>
          <a:lstStyle/>
          <a:p>
            <a:r>
              <a:rPr lang="en-IN" dirty="0">
                <a:latin typeface="Microsoft JhengHei UI" panose="020B0604030504040204" pitchFamily="34" charset="-120"/>
                <a:ea typeface="Microsoft JhengHei UI" panose="020B0604030504040204" pitchFamily="34" charset="-120"/>
              </a:rPr>
              <a:t>DFD Level 0</a:t>
            </a:r>
          </a:p>
        </p:txBody>
      </p:sp>
      <p:sp>
        <p:nvSpPr>
          <p:cNvPr id="12" name="TextBox 11">
            <a:extLst>
              <a:ext uri="{FF2B5EF4-FFF2-40B4-BE49-F238E27FC236}">
                <a16:creationId xmlns:a16="http://schemas.microsoft.com/office/drawing/2014/main" id="{E443420F-E1AB-8B38-7F0B-2A74141FB423}"/>
              </a:ext>
            </a:extLst>
          </p:cNvPr>
          <p:cNvSpPr txBox="1"/>
          <p:nvPr/>
        </p:nvSpPr>
        <p:spPr>
          <a:xfrm>
            <a:off x="2504821" y="4945098"/>
            <a:ext cx="1457579" cy="369332"/>
          </a:xfrm>
          <a:prstGeom prst="rect">
            <a:avLst/>
          </a:prstGeom>
          <a:noFill/>
        </p:spPr>
        <p:txBody>
          <a:bodyPr wrap="none" rtlCol="0">
            <a:spAutoFit/>
          </a:bodyPr>
          <a:lstStyle/>
          <a:p>
            <a:r>
              <a:rPr lang="en-IN" dirty="0">
                <a:latin typeface="Microsoft JhengHei UI" panose="020B0604030504040204" pitchFamily="34" charset="-120"/>
                <a:ea typeface="Microsoft JhengHei UI" panose="020B0604030504040204" pitchFamily="34" charset="-120"/>
              </a:rPr>
              <a:t>DFD Level 2</a:t>
            </a:r>
          </a:p>
        </p:txBody>
      </p:sp>
      <p:sp>
        <p:nvSpPr>
          <p:cNvPr id="15" name="TextBox 14">
            <a:extLst>
              <a:ext uri="{FF2B5EF4-FFF2-40B4-BE49-F238E27FC236}">
                <a16:creationId xmlns:a16="http://schemas.microsoft.com/office/drawing/2014/main" id="{2403CCDD-BFCD-6936-DCFA-CAFA401BC2BE}"/>
              </a:ext>
            </a:extLst>
          </p:cNvPr>
          <p:cNvSpPr txBox="1"/>
          <p:nvPr/>
        </p:nvSpPr>
        <p:spPr>
          <a:xfrm>
            <a:off x="9134416" y="5680984"/>
            <a:ext cx="1457579" cy="369332"/>
          </a:xfrm>
          <a:prstGeom prst="rect">
            <a:avLst/>
          </a:prstGeom>
          <a:noFill/>
        </p:spPr>
        <p:txBody>
          <a:bodyPr wrap="none" rtlCol="0">
            <a:spAutoFit/>
          </a:bodyPr>
          <a:lstStyle/>
          <a:p>
            <a:r>
              <a:rPr lang="en-IN" dirty="0">
                <a:latin typeface="Microsoft JhengHei UI" panose="020B0604030504040204" pitchFamily="34" charset="-120"/>
                <a:ea typeface="Microsoft JhengHei UI" panose="020B0604030504040204" pitchFamily="34" charset="-120"/>
              </a:rPr>
              <a:t>DFD Level 1</a:t>
            </a:r>
          </a:p>
        </p:txBody>
      </p:sp>
    </p:spTree>
    <p:extLst>
      <p:ext uri="{BB962C8B-B14F-4D97-AF65-F5344CB8AC3E}">
        <p14:creationId xmlns:p14="http://schemas.microsoft.com/office/powerpoint/2010/main" val="1452028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F3E8C-F21A-566F-0EE4-1BC818629367}"/>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F2C658A-F768-2A83-AC3A-DB787F54E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5075023E-EE99-5D46-9424-8693AE0A7FF7}"/>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F096435-F290-8472-C600-94A7B5353F21}"/>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10</a:t>
            </a:fld>
            <a:endParaRPr lang="en-US" sz="1600" dirty="0"/>
          </a:p>
        </p:txBody>
      </p:sp>
      <p:sp>
        <p:nvSpPr>
          <p:cNvPr id="9" name="Rectangle 8">
            <a:extLst>
              <a:ext uri="{FF2B5EF4-FFF2-40B4-BE49-F238E27FC236}">
                <a16:creationId xmlns:a16="http://schemas.microsoft.com/office/drawing/2014/main" id="{B10EDFB3-F91E-32C5-F0FA-D001C68E5289}"/>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5414F8BA-D0EC-9294-D180-6679A34736F2}"/>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Machine Learning Model</a:t>
            </a:r>
          </a:p>
        </p:txBody>
      </p:sp>
      <p:pic>
        <p:nvPicPr>
          <p:cNvPr id="10" name="Google Shape;89;p1" descr="Logo, company name&#10;&#10;Description automatically generated">
            <a:extLst>
              <a:ext uri="{FF2B5EF4-FFF2-40B4-BE49-F238E27FC236}">
                <a16:creationId xmlns:a16="http://schemas.microsoft.com/office/drawing/2014/main" id="{560839B5-E5DF-E99F-A9A3-D5C3EF05048D}"/>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2FDAD28A-BD62-3AAF-F8DA-8740C9FE1B1F}"/>
              </a:ext>
            </a:extLst>
          </p:cNvPr>
          <p:cNvSpPr txBox="1"/>
          <p:nvPr/>
        </p:nvSpPr>
        <p:spPr>
          <a:xfrm>
            <a:off x="96635" y="1429166"/>
            <a:ext cx="11922105" cy="5093702"/>
          </a:xfrm>
          <a:prstGeom prst="rect">
            <a:avLst/>
          </a:prstGeom>
          <a:noFill/>
        </p:spPr>
        <p:txBody>
          <a:bodyPr wrap="square">
            <a:spAutoFit/>
          </a:bodyPr>
          <a:lstStyle/>
          <a:p>
            <a:pPr marL="285750" indent="-285750">
              <a:spcBef>
                <a:spcPts val="1200"/>
              </a:spcBef>
              <a:spcAft>
                <a:spcPts val="300"/>
              </a:spcAft>
              <a:buFont typeface="Wingdings" panose="05000000000000000000" pitchFamily="2" charset="2"/>
              <a:buChar char="§"/>
            </a:pPr>
            <a:r>
              <a:rPr lang="en-US" sz="2000" dirty="0">
                <a:latin typeface="Microsoft JhengHei UI" panose="020B0604030504040204" pitchFamily="34" charset="-120"/>
                <a:ea typeface="Microsoft JhengHei UI" panose="020B0604030504040204" pitchFamily="34" charset="-120"/>
              </a:rPr>
              <a:t>Supervised Learning Model (Regression) Random Forest</a:t>
            </a:r>
          </a:p>
          <a:p>
            <a:pPr marL="285750" indent="-285750">
              <a:spcBef>
                <a:spcPts val="1200"/>
              </a:spcBef>
              <a:spcAft>
                <a:spcPts val="300"/>
              </a:spcAft>
              <a:buFont typeface="Wingdings" panose="05000000000000000000" pitchFamily="2" charset="2"/>
              <a:buChar char="§"/>
            </a:pPr>
            <a:r>
              <a:rPr lang="en-US" sz="2000" dirty="0">
                <a:latin typeface="Microsoft JhengHei UI" panose="020B0604030504040204" pitchFamily="34" charset="-120"/>
                <a:ea typeface="Microsoft JhengHei UI" panose="020B0604030504040204" pitchFamily="34" charset="-120"/>
              </a:rPr>
              <a:t>Trained using historical product data</a:t>
            </a:r>
          </a:p>
          <a:p>
            <a:pPr>
              <a:lnSpc>
                <a:spcPct val="150000"/>
              </a:lnSpc>
            </a:pPr>
            <a:r>
              <a:rPr lang="en-US" sz="2000" b="1" dirty="0">
                <a:latin typeface="Microsoft JhengHei UI" panose="020B0604030504040204" pitchFamily="34" charset="-120"/>
                <a:ea typeface="Microsoft JhengHei UI" panose="020B0604030504040204" pitchFamily="34" charset="-120"/>
              </a:rPr>
              <a:t>Working Process</a:t>
            </a:r>
          </a:p>
          <a:p>
            <a:pPr marL="342900"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Input product details</a:t>
            </a:r>
          </a:p>
          <a:p>
            <a:pPr marL="342900"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Generate multiple price points (±50% range)</a:t>
            </a:r>
          </a:p>
          <a:p>
            <a:pPr marL="342900"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Predict demand for each price</a:t>
            </a:r>
          </a:p>
          <a:p>
            <a:pPr marL="342900"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Apply elasticity adjustment</a:t>
            </a:r>
          </a:p>
          <a:p>
            <a:pPr marL="342900"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Calculate revenue:</a:t>
            </a:r>
          </a:p>
          <a:p>
            <a:pPr marL="800100" lvl="1"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Revenue = Price × Demand</a:t>
            </a:r>
          </a:p>
          <a:p>
            <a:pPr marL="342900" indent="-342900">
              <a:lnSpc>
                <a:spcPct val="150000"/>
              </a:lnSpc>
              <a:buFont typeface="Arial" panose="020B0604020202020204" pitchFamily="34" charset="0"/>
              <a:buChar char="•"/>
            </a:pPr>
            <a:r>
              <a:rPr lang="en-US" sz="2000" dirty="0">
                <a:latin typeface="Microsoft JhengHei UI" panose="020B0604030504040204" pitchFamily="34" charset="-120"/>
                <a:ea typeface="Microsoft JhengHei UI" panose="020B0604030504040204" pitchFamily="34" charset="-120"/>
              </a:rPr>
              <a:t>Select price with </a:t>
            </a:r>
            <a:r>
              <a:rPr lang="en-US" sz="2000" b="1" dirty="0">
                <a:latin typeface="Microsoft JhengHei UI" panose="020B0604030504040204" pitchFamily="34" charset="-120"/>
                <a:ea typeface="Microsoft JhengHei UI" panose="020B0604030504040204" pitchFamily="34" charset="-120"/>
              </a:rPr>
              <a:t>maximum revenue</a:t>
            </a:r>
            <a:endParaRPr lang="en-US" sz="2000" dirty="0">
              <a:latin typeface="Microsoft JhengHei UI" panose="020B0604030504040204" pitchFamily="34" charset="-120"/>
              <a:ea typeface="Microsoft JhengHei UI" panose="020B0604030504040204" pitchFamily="34" charset="-120"/>
            </a:endParaRPr>
          </a:p>
          <a:p>
            <a:pPr marL="285750" indent="-285750">
              <a:spcBef>
                <a:spcPts val="1200"/>
              </a:spcBef>
              <a:spcAft>
                <a:spcPts val="300"/>
              </a:spcAft>
              <a:buFont typeface="Wingdings" panose="05000000000000000000" pitchFamily="2" charset="2"/>
              <a:buChar char="§"/>
            </a:pPr>
            <a:endParaRPr lang="en-US" sz="2000" dirty="0">
              <a:latin typeface="Microsoft JhengHei UI" panose="020B0604030504040204" pitchFamily="34" charset="-120"/>
              <a:ea typeface="Microsoft JhengHei UI" panose="020B0604030504040204" pitchFamily="34" charset="-120"/>
            </a:endParaRPr>
          </a:p>
        </p:txBody>
      </p:sp>
      <p:sp>
        <p:nvSpPr>
          <p:cNvPr id="14" name="Rectangle 13">
            <a:extLst>
              <a:ext uri="{FF2B5EF4-FFF2-40B4-BE49-F238E27FC236}">
                <a16:creationId xmlns:a16="http://schemas.microsoft.com/office/drawing/2014/main" id="{07045A1B-C00F-BAAC-D8B4-52FE5BBE1F35}"/>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1AF01E9F-7060-574E-F79A-B0432989B36D}"/>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pic>
        <p:nvPicPr>
          <p:cNvPr id="11" name="Picture 10">
            <a:extLst>
              <a:ext uri="{FF2B5EF4-FFF2-40B4-BE49-F238E27FC236}">
                <a16:creationId xmlns:a16="http://schemas.microsoft.com/office/drawing/2014/main" id="{E198CEBD-8468-F4AF-7924-870B34982235}"/>
              </a:ext>
            </a:extLst>
          </p:cNvPr>
          <p:cNvPicPr>
            <a:picLocks noChangeAspect="1"/>
          </p:cNvPicPr>
          <p:nvPr/>
        </p:nvPicPr>
        <p:blipFill>
          <a:blip r:embed="rId5"/>
          <a:stretch>
            <a:fillRect/>
          </a:stretch>
        </p:blipFill>
        <p:spPr>
          <a:xfrm>
            <a:off x="7544100" y="1756222"/>
            <a:ext cx="3268328" cy="3962014"/>
          </a:xfrm>
          <a:prstGeom prst="rect">
            <a:avLst/>
          </a:prstGeom>
        </p:spPr>
      </p:pic>
    </p:spTree>
    <p:extLst>
      <p:ext uri="{BB962C8B-B14F-4D97-AF65-F5344CB8AC3E}">
        <p14:creationId xmlns:p14="http://schemas.microsoft.com/office/powerpoint/2010/main" val="2045925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4AAB-9BBF-055A-82EF-C8040937B075}"/>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B8A5D7EE-F035-D4F1-A8DA-9DA47FC73B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82C44267-2107-05A0-CB3B-B59276DDAC04}"/>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72127C0-B08F-9028-168E-2381215348A3}"/>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11</a:t>
            </a:fld>
            <a:endParaRPr lang="en-US" sz="1600" dirty="0"/>
          </a:p>
        </p:txBody>
      </p:sp>
      <p:sp>
        <p:nvSpPr>
          <p:cNvPr id="9" name="Rectangle 8">
            <a:extLst>
              <a:ext uri="{FF2B5EF4-FFF2-40B4-BE49-F238E27FC236}">
                <a16:creationId xmlns:a16="http://schemas.microsoft.com/office/drawing/2014/main" id="{BE61D0FA-A738-E77D-64FF-B0B5865C74D5}"/>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D792142B-083B-9444-DA4B-D8BFEBFF8F5D}"/>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Machine Learning Model</a:t>
            </a:r>
          </a:p>
        </p:txBody>
      </p:sp>
      <p:pic>
        <p:nvPicPr>
          <p:cNvPr id="10" name="Google Shape;89;p1" descr="Logo, company name&#10;&#10;Description automatically generated">
            <a:extLst>
              <a:ext uri="{FF2B5EF4-FFF2-40B4-BE49-F238E27FC236}">
                <a16:creationId xmlns:a16="http://schemas.microsoft.com/office/drawing/2014/main" id="{856B5715-D92A-3EAC-E561-2A1825078663}"/>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Rectangle 13">
            <a:extLst>
              <a:ext uri="{FF2B5EF4-FFF2-40B4-BE49-F238E27FC236}">
                <a16:creationId xmlns:a16="http://schemas.microsoft.com/office/drawing/2014/main" id="{592596E6-5451-D8A2-D94D-3A09FC10F320}"/>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65997FAF-C0D2-6FEB-0E63-C83293BB453F}"/>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pic>
        <p:nvPicPr>
          <p:cNvPr id="5" name="Picture 4">
            <a:extLst>
              <a:ext uri="{FF2B5EF4-FFF2-40B4-BE49-F238E27FC236}">
                <a16:creationId xmlns:a16="http://schemas.microsoft.com/office/drawing/2014/main" id="{16CDAC06-59E5-295D-F375-BBC4C6B10CB4}"/>
              </a:ext>
            </a:extLst>
          </p:cNvPr>
          <p:cNvPicPr>
            <a:picLocks noChangeAspect="1"/>
          </p:cNvPicPr>
          <p:nvPr/>
        </p:nvPicPr>
        <p:blipFill>
          <a:blip r:embed="rId5"/>
          <a:srcRect r="57471" b="73286"/>
          <a:stretch>
            <a:fillRect/>
          </a:stretch>
        </p:blipFill>
        <p:spPr>
          <a:xfrm>
            <a:off x="526150" y="1551008"/>
            <a:ext cx="4219085" cy="3113589"/>
          </a:xfrm>
          <a:prstGeom prst="rect">
            <a:avLst/>
          </a:prstGeom>
        </p:spPr>
      </p:pic>
      <p:pic>
        <p:nvPicPr>
          <p:cNvPr id="6" name="Picture 5">
            <a:extLst>
              <a:ext uri="{FF2B5EF4-FFF2-40B4-BE49-F238E27FC236}">
                <a16:creationId xmlns:a16="http://schemas.microsoft.com/office/drawing/2014/main" id="{9FE07ADD-3AA2-2879-827C-A75B5B61B02E}"/>
              </a:ext>
            </a:extLst>
          </p:cNvPr>
          <p:cNvPicPr>
            <a:picLocks noChangeAspect="1"/>
          </p:cNvPicPr>
          <p:nvPr/>
        </p:nvPicPr>
        <p:blipFill>
          <a:blip r:embed="rId5"/>
          <a:srcRect t="25929" r="23393" b="5425"/>
          <a:stretch>
            <a:fillRect/>
          </a:stretch>
        </p:blipFill>
        <p:spPr>
          <a:xfrm>
            <a:off x="5334816" y="1044353"/>
            <a:ext cx="6578278" cy="5347979"/>
          </a:xfrm>
          <a:prstGeom prst="rect">
            <a:avLst/>
          </a:prstGeom>
        </p:spPr>
      </p:pic>
    </p:spTree>
    <p:extLst>
      <p:ext uri="{BB962C8B-B14F-4D97-AF65-F5344CB8AC3E}">
        <p14:creationId xmlns:p14="http://schemas.microsoft.com/office/powerpoint/2010/main" val="1704680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478C-B515-9BF4-4E0C-0FA61E94E9CF}"/>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E208E247-CBBE-D667-A621-7FA4CC6C0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3" name="Slide Number Placeholder 2">
            <a:extLst>
              <a:ext uri="{FF2B5EF4-FFF2-40B4-BE49-F238E27FC236}">
                <a16:creationId xmlns:a16="http://schemas.microsoft.com/office/drawing/2014/main" id="{C189A0E6-7995-81F0-B4E3-2EF81F61A7FF}"/>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12</a:t>
            </a:fld>
            <a:endParaRPr lang="en-US" sz="1600" dirty="0"/>
          </a:p>
        </p:txBody>
      </p:sp>
      <p:sp>
        <p:nvSpPr>
          <p:cNvPr id="9" name="Rectangle 8">
            <a:extLst>
              <a:ext uri="{FF2B5EF4-FFF2-40B4-BE49-F238E27FC236}">
                <a16:creationId xmlns:a16="http://schemas.microsoft.com/office/drawing/2014/main" id="{95E1E166-5272-4551-470A-2A317CC9CE3E}"/>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BAAE27B8-4BE4-7E0D-E4E0-6E629CEA8786}"/>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TOOLS AND TECHNOLOGY</a:t>
            </a:r>
          </a:p>
        </p:txBody>
      </p:sp>
      <p:pic>
        <p:nvPicPr>
          <p:cNvPr id="10" name="Google Shape;89;p1" descr="Logo, company name&#10;&#10;Description automatically generated">
            <a:extLst>
              <a:ext uri="{FF2B5EF4-FFF2-40B4-BE49-F238E27FC236}">
                <a16:creationId xmlns:a16="http://schemas.microsoft.com/office/drawing/2014/main" id="{3BC3A155-CB2B-D793-14E9-9372A2D3CF65}"/>
              </a:ext>
            </a:extLst>
          </p:cNvPr>
          <p:cNvPicPr preferRelativeResize="0">
            <a:picLocks noChangeAspect="1"/>
          </p:cNvPicPr>
          <p:nvPr/>
        </p:nvPicPr>
        <p:blipFill rotWithShape="1">
          <a:blip r:embed="rId4">
            <a:alphaModFix/>
          </a:blip>
          <a:srcRect l="22687" t="23899" r="24741" b="27454"/>
          <a:stretch/>
        </p:blipFill>
        <p:spPr>
          <a:xfrm>
            <a:off x="43305" y="60285"/>
            <a:ext cx="988599" cy="914400"/>
          </a:xfrm>
          <a:prstGeom prst="rect">
            <a:avLst/>
          </a:prstGeom>
          <a:noFill/>
          <a:ln>
            <a:noFill/>
          </a:ln>
        </p:spPr>
      </p:pic>
      <p:sp>
        <p:nvSpPr>
          <p:cNvPr id="14" name="Rectangle 13">
            <a:extLst>
              <a:ext uri="{FF2B5EF4-FFF2-40B4-BE49-F238E27FC236}">
                <a16:creationId xmlns:a16="http://schemas.microsoft.com/office/drawing/2014/main" id="{FCC7960E-484C-F715-2389-0CC7D21A80BF}"/>
              </a:ext>
            </a:extLst>
          </p:cNvPr>
          <p:cNvSpPr/>
          <p:nvPr/>
        </p:nvSpPr>
        <p:spPr>
          <a:xfrm>
            <a:off x="-172779" y="6483773"/>
            <a:ext cx="3024838" cy="372474"/>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68903C61-222C-3193-51DE-C4839450B759}"/>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graphicFrame>
        <p:nvGraphicFramePr>
          <p:cNvPr id="4" name="Table 3">
            <a:extLst>
              <a:ext uri="{FF2B5EF4-FFF2-40B4-BE49-F238E27FC236}">
                <a16:creationId xmlns:a16="http://schemas.microsoft.com/office/drawing/2014/main" id="{FBA6E0CD-DBFF-26FC-E821-9BB77BB6991B}"/>
              </a:ext>
            </a:extLst>
          </p:cNvPr>
          <p:cNvGraphicFramePr>
            <a:graphicFrameLocks noGrp="1"/>
          </p:cNvGraphicFramePr>
          <p:nvPr/>
        </p:nvGraphicFramePr>
        <p:xfrm>
          <a:off x="1202872" y="1358761"/>
          <a:ext cx="9786300" cy="4776568"/>
        </p:xfrm>
        <a:graphic>
          <a:graphicData uri="http://schemas.openxmlformats.org/drawingml/2006/table">
            <a:tbl>
              <a:tblPr firstRow="1" bandRow="1">
                <a:tableStyleId>{2D5ABB26-0587-4C30-8999-92F81FD0307C}</a:tableStyleId>
              </a:tblPr>
              <a:tblGrid>
                <a:gridCol w="4893150">
                  <a:extLst>
                    <a:ext uri="{9D8B030D-6E8A-4147-A177-3AD203B41FA5}">
                      <a16:colId xmlns:a16="http://schemas.microsoft.com/office/drawing/2014/main" val="2953092679"/>
                    </a:ext>
                  </a:extLst>
                </a:gridCol>
                <a:gridCol w="4893150">
                  <a:extLst>
                    <a:ext uri="{9D8B030D-6E8A-4147-A177-3AD203B41FA5}">
                      <a16:colId xmlns:a16="http://schemas.microsoft.com/office/drawing/2014/main" val="1634004780"/>
                    </a:ext>
                  </a:extLst>
                </a:gridCol>
              </a:tblGrid>
              <a:tr h="119414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dirty="0"/>
                        <a:t>Programming Language: Python, Java</a:t>
                      </a:r>
                    </a:p>
                    <a:p>
                      <a:pPr algn="ctr"/>
                      <a:endParaRPr lang="en-IN" sz="1400" b="1" i="0" u="none"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dirty="0"/>
                        <a:t>Database: </a:t>
                      </a:r>
                      <a:r>
                        <a:rPr lang="en-IN" sz="1400" b="0" u="none" dirty="0" err="1"/>
                        <a:t>mySQL</a:t>
                      </a:r>
                      <a:endParaRPr lang="en-IN" sz="1400" b="0" u="none" dirty="0"/>
                    </a:p>
                    <a:p>
                      <a:pPr algn="ctr"/>
                      <a:endParaRPr lang="en-IN" sz="1400" b="0" i="0" u="none" dirty="0"/>
                    </a:p>
                  </a:txBody>
                  <a:tcPr/>
                </a:tc>
                <a:extLst>
                  <a:ext uri="{0D108BD9-81ED-4DB2-BD59-A6C34878D82A}">
                    <a16:rowId xmlns:a16="http://schemas.microsoft.com/office/drawing/2014/main" val="1643146486"/>
                  </a:ext>
                </a:extLst>
              </a:tr>
              <a:tr h="1194142">
                <a:tc>
                  <a:txBody>
                    <a:bodyPr/>
                    <a:lstStyle/>
                    <a:p>
                      <a:r>
                        <a:rPr lang="en-IN" sz="1400" b="0" u="none" dirty="0"/>
                        <a:t>Frontend &amp; Dashboard: HTML, CSS, JavaScript</a:t>
                      </a:r>
                    </a:p>
                    <a:p>
                      <a:pPr algn="ctr"/>
                      <a:endParaRPr lang="en-IN" sz="1400" b="0" i="0" u="none"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dirty="0"/>
                        <a:t>API: Gemini</a:t>
                      </a:r>
                    </a:p>
                    <a:p>
                      <a:pPr algn="ctr"/>
                      <a:endParaRPr lang="en-IN" sz="1400" b="0" i="0" u="none" dirty="0"/>
                    </a:p>
                  </a:txBody>
                  <a:tcPr/>
                </a:tc>
                <a:extLst>
                  <a:ext uri="{0D108BD9-81ED-4DB2-BD59-A6C34878D82A}">
                    <a16:rowId xmlns:a16="http://schemas.microsoft.com/office/drawing/2014/main" val="4164071291"/>
                  </a:ext>
                </a:extLst>
              </a:tr>
              <a:tr h="119414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dirty="0"/>
                        <a:t>Backend Framework: Spring Boot &amp; Flask</a:t>
                      </a:r>
                    </a:p>
                    <a:p>
                      <a:pPr algn="ctr"/>
                      <a:endParaRPr lang="en-IN" sz="1400" b="0" i="0" u="none"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400" b="0" u="none" dirty="0"/>
                        <a:t>Version Control: Git &amp; GitHub</a:t>
                      </a:r>
                    </a:p>
                    <a:p>
                      <a:pPr algn="ctr"/>
                      <a:endParaRPr lang="en-IN" sz="1400" b="0" i="0" u="none" dirty="0"/>
                    </a:p>
                  </a:txBody>
                  <a:tcPr/>
                </a:tc>
                <a:extLst>
                  <a:ext uri="{0D108BD9-81ED-4DB2-BD59-A6C34878D82A}">
                    <a16:rowId xmlns:a16="http://schemas.microsoft.com/office/drawing/2014/main" val="3381026805"/>
                  </a:ext>
                </a:extLst>
              </a:tr>
              <a:tr h="1194142">
                <a:tc>
                  <a:txBody>
                    <a:bodyPr/>
                    <a:lstStyle/>
                    <a:p>
                      <a:pPr algn="ctr"/>
                      <a:endParaRPr lang="en-IN" sz="1400" b="0" i="0" u="none" dirty="0"/>
                    </a:p>
                  </a:txBody>
                  <a:tcPr/>
                </a:tc>
                <a:tc>
                  <a:txBody>
                    <a:bodyPr/>
                    <a:lstStyle/>
                    <a:p>
                      <a:pPr algn="ctr"/>
                      <a:endParaRPr lang="en-IN" sz="1400" b="0" i="0" u="none" dirty="0"/>
                    </a:p>
                  </a:txBody>
                  <a:tcPr/>
                </a:tc>
                <a:extLst>
                  <a:ext uri="{0D108BD9-81ED-4DB2-BD59-A6C34878D82A}">
                    <a16:rowId xmlns:a16="http://schemas.microsoft.com/office/drawing/2014/main" val="1824425774"/>
                  </a:ext>
                </a:extLst>
              </a:tr>
            </a:tbl>
          </a:graphicData>
        </a:graphic>
      </p:graphicFrame>
      <p:pic>
        <p:nvPicPr>
          <p:cNvPr id="5" name="Picture 4">
            <a:extLst>
              <a:ext uri="{FF2B5EF4-FFF2-40B4-BE49-F238E27FC236}">
                <a16:creationId xmlns:a16="http://schemas.microsoft.com/office/drawing/2014/main" id="{9E6E9D1B-0CC8-B77B-98A2-D8944A6E5684}"/>
              </a:ext>
            </a:extLst>
          </p:cNvPr>
          <p:cNvPicPr>
            <a:picLocks noChangeAspect="1"/>
          </p:cNvPicPr>
          <p:nvPr/>
        </p:nvPicPr>
        <p:blipFill>
          <a:blip r:embed="rId5"/>
          <a:stretch>
            <a:fillRect/>
          </a:stretch>
        </p:blipFill>
        <p:spPr>
          <a:xfrm>
            <a:off x="2493736" y="2773843"/>
            <a:ext cx="1742246" cy="972247"/>
          </a:xfrm>
          <a:prstGeom prst="rect">
            <a:avLst/>
          </a:prstGeom>
        </p:spPr>
      </p:pic>
      <p:pic>
        <p:nvPicPr>
          <p:cNvPr id="6" name="Picture 5">
            <a:extLst>
              <a:ext uri="{FF2B5EF4-FFF2-40B4-BE49-F238E27FC236}">
                <a16:creationId xmlns:a16="http://schemas.microsoft.com/office/drawing/2014/main" id="{1A433473-AC3D-33B2-C3C2-19D2A2119E74}"/>
              </a:ext>
            </a:extLst>
          </p:cNvPr>
          <p:cNvPicPr>
            <a:picLocks noChangeAspect="1"/>
          </p:cNvPicPr>
          <p:nvPr/>
        </p:nvPicPr>
        <p:blipFill>
          <a:blip r:embed="rId6"/>
          <a:stretch>
            <a:fillRect/>
          </a:stretch>
        </p:blipFill>
        <p:spPr>
          <a:xfrm>
            <a:off x="2675219" y="1697766"/>
            <a:ext cx="520266" cy="571320"/>
          </a:xfrm>
          <a:prstGeom prst="rect">
            <a:avLst/>
          </a:prstGeom>
        </p:spPr>
      </p:pic>
      <p:pic>
        <p:nvPicPr>
          <p:cNvPr id="7" name="Picture 2" descr="Java Vector Logo - Download Free SVG Icon | Worldvectorlogo">
            <a:extLst>
              <a:ext uri="{FF2B5EF4-FFF2-40B4-BE49-F238E27FC236}">
                <a16:creationId xmlns:a16="http://schemas.microsoft.com/office/drawing/2014/main" id="{287B9E14-DAA4-E643-495E-BF313765D7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63421" y="1639559"/>
            <a:ext cx="788914" cy="69499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pring Boot">
            <a:extLst>
              <a:ext uri="{FF2B5EF4-FFF2-40B4-BE49-F238E27FC236}">
                <a16:creationId xmlns:a16="http://schemas.microsoft.com/office/drawing/2014/main" id="{538367AA-E102-B991-3C70-5707AC19B5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3974" y="4022842"/>
            <a:ext cx="1296169" cy="9178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lask logo icons for Python developers">
            <a:extLst>
              <a:ext uri="{FF2B5EF4-FFF2-40B4-BE49-F238E27FC236}">
                <a16:creationId xmlns:a16="http://schemas.microsoft.com/office/drawing/2014/main" id="{B3B15EE5-095C-9556-52EC-131E6AD8169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0968" y="3980408"/>
            <a:ext cx="933988" cy="9339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emini ai Icons, Logos, Symbols – Free ...">
            <a:extLst>
              <a:ext uri="{FF2B5EF4-FFF2-40B4-BE49-F238E27FC236}">
                <a16:creationId xmlns:a16="http://schemas.microsoft.com/office/drawing/2014/main" id="{E1B42E29-C330-FA4A-043F-B5602808EDF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52251" y="2999838"/>
            <a:ext cx="581193" cy="58119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MySQL Icon SVG Vector &amp; PNG Free Download | UXWing">
            <a:extLst>
              <a:ext uri="{FF2B5EF4-FFF2-40B4-BE49-F238E27FC236}">
                <a16:creationId xmlns:a16="http://schemas.microsoft.com/office/drawing/2014/main" id="{EC484C0B-C8B5-1C14-3128-5FA84F880D7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56403" y="1690972"/>
            <a:ext cx="772890" cy="7728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AA9D31D-8689-6D03-9353-89C94DFBFBBE}"/>
              </a:ext>
            </a:extLst>
          </p:cNvPr>
          <p:cNvPicPr>
            <a:picLocks noChangeAspect="1"/>
          </p:cNvPicPr>
          <p:nvPr/>
        </p:nvPicPr>
        <p:blipFill>
          <a:blip r:embed="rId12"/>
          <a:stretch>
            <a:fillRect/>
          </a:stretch>
        </p:blipFill>
        <p:spPr>
          <a:xfrm>
            <a:off x="7833052" y="4017611"/>
            <a:ext cx="1528456" cy="855935"/>
          </a:xfrm>
          <a:prstGeom prst="rect">
            <a:avLst/>
          </a:prstGeom>
        </p:spPr>
      </p:pic>
      <p:graphicFrame>
        <p:nvGraphicFramePr>
          <p:cNvPr id="16" name="Table 15">
            <a:extLst>
              <a:ext uri="{FF2B5EF4-FFF2-40B4-BE49-F238E27FC236}">
                <a16:creationId xmlns:a16="http://schemas.microsoft.com/office/drawing/2014/main" id="{61A23555-FA31-AAA0-D3A1-3B19B3573B09}"/>
              </a:ext>
            </a:extLst>
          </p:cNvPr>
          <p:cNvGraphicFramePr>
            <a:graphicFrameLocks noGrp="1"/>
          </p:cNvGraphicFramePr>
          <p:nvPr/>
        </p:nvGraphicFramePr>
        <p:xfrm>
          <a:off x="1202827" y="1167727"/>
          <a:ext cx="9484838" cy="3746669"/>
        </p:xfrm>
        <a:graphic>
          <a:graphicData uri="http://schemas.openxmlformats.org/drawingml/2006/table">
            <a:tbl>
              <a:tblPr firstRow="1" bandRow="1">
                <a:tableStyleId>{5940675A-B579-460E-94D1-54222C63F5DA}</a:tableStyleId>
              </a:tblPr>
              <a:tblGrid>
                <a:gridCol w="4742419">
                  <a:extLst>
                    <a:ext uri="{9D8B030D-6E8A-4147-A177-3AD203B41FA5}">
                      <a16:colId xmlns:a16="http://schemas.microsoft.com/office/drawing/2014/main" val="3437985522"/>
                    </a:ext>
                  </a:extLst>
                </a:gridCol>
                <a:gridCol w="4742419">
                  <a:extLst>
                    <a:ext uri="{9D8B030D-6E8A-4147-A177-3AD203B41FA5}">
                      <a16:colId xmlns:a16="http://schemas.microsoft.com/office/drawing/2014/main" val="3439387508"/>
                    </a:ext>
                  </a:extLst>
                </a:gridCol>
              </a:tblGrid>
              <a:tr h="1303456">
                <a:tc>
                  <a:txBody>
                    <a:bodyPr/>
                    <a:lstStyle/>
                    <a:p>
                      <a:endParaRPr lang="en-IN" dirty="0"/>
                    </a:p>
                  </a:txBody>
                  <a:tcPr/>
                </a:tc>
                <a:tc>
                  <a:txBody>
                    <a:bodyPr/>
                    <a:lstStyle/>
                    <a:p>
                      <a:endParaRPr lang="en-IN"/>
                    </a:p>
                  </a:txBody>
                  <a:tcPr/>
                </a:tc>
                <a:extLst>
                  <a:ext uri="{0D108BD9-81ED-4DB2-BD59-A6C34878D82A}">
                    <a16:rowId xmlns:a16="http://schemas.microsoft.com/office/drawing/2014/main" val="3916179343"/>
                  </a:ext>
                </a:extLst>
              </a:tr>
              <a:tr h="1048464">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21504460"/>
                  </a:ext>
                </a:extLst>
              </a:tr>
              <a:tr h="1394749">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028068681"/>
                  </a:ext>
                </a:extLst>
              </a:tr>
            </a:tbl>
          </a:graphicData>
        </a:graphic>
      </p:graphicFrame>
    </p:spTree>
    <p:extLst>
      <p:ext uri="{BB962C8B-B14F-4D97-AF65-F5344CB8AC3E}">
        <p14:creationId xmlns:p14="http://schemas.microsoft.com/office/powerpoint/2010/main" val="1914010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2A69B-A226-940F-67C4-D24D70AD8A49}"/>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6D327BE5-4CD9-60EC-ABCA-B5EF1359F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BD7FE76F-CC5B-6220-9136-13BF306F6238}"/>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D32E58ED-C11E-E188-9CBE-C387CE92E30D}"/>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13</a:t>
            </a:fld>
            <a:endParaRPr lang="en-US" sz="1600" dirty="0"/>
          </a:p>
        </p:txBody>
      </p:sp>
      <p:sp>
        <p:nvSpPr>
          <p:cNvPr id="9" name="Rectangle 8">
            <a:extLst>
              <a:ext uri="{FF2B5EF4-FFF2-40B4-BE49-F238E27FC236}">
                <a16:creationId xmlns:a16="http://schemas.microsoft.com/office/drawing/2014/main" id="{E1451ED1-9361-A68C-3525-BC420CB79DFC}"/>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F9160540-D9D1-ADB2-25BB-C3D56D5C2E28}"/>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FEATURE IMPLEMENTATION</a:t>
            </a:r>
          </a:p>
        </p:txBody>
      </p:sp>
      <p:pic>
        <p:nvPicPr>
          <p:cNvPr id="10" name="Google Shape;89;p1" descr="Logo, company name&#10;&#10;Description automatically generated">
            <a:extLst>
              <a:ext uri="{FF2B5EF4-FFF2-40B4-BE49-F238E27FC236}">
                <a16:creationId xmlns:a16="http://schemas.microsoft.com/office/drawing/2014/main" id="{48E25BD8-F89C-5E8D-882F-F8BD16BB5D4B}"/>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F9753FAE-6D86-2001-08D9-15BCCC6EB99A}"/>
              </a:ext>
            </a:extLst>
          </p:cNvPr>
          <p:cNvSpPr txBox="1"/>
          <p:nvPr/>
        </p:nvSpPr>
        <p:spPr>
          <a:xfrm>
            <a:off x="64399" y="1012030"/>
            <a:ext cx="11739765" cy="2069797"/>
          </a:xfrm>
          <a:prstGeom prst="rect">
            <a:avLst/>
          </a:prstGeom>
          <a:noFill/>
        </p:spPr>
        <p:txBody>
          <a:bodyPr wrap="square">
            <a:spAutoFit/>
          </a:bodyPr>
          <a:lstStyle/>
          <a:p>
            <a:pPr marL="285750" indent="-285750">
              <a:spcAft>
                <a:spcPts val="300"/>
              </a:spcAft>
              <a:buFont typeface="Arial" panose="020B0604020202020204" pitchFamily="34" charset="0"/>
              <a:buChar char="•"/>
            </a:pPr>
            <a:r>
              <a:rPr lang="en-US" b="1" dirty="0">
                <a:latin typeface="Microsoft JhengHei UI" panose="020B0604030504040204" pitchFamily="34" charset="-120"/>
                <a:ea typeface="Microsoft JhengHei UI" panose="020B0604030504040204" pitchFamily="34" charset="-120"/>
              </a:rPr>
              <a:t>Features Implemented:</a:t>
            </a:r>
          </a:p>
          <a:p>
            <a:pPr marL="742950" lvl="1" indent="-285750">
              <a:buFont typeface="Wingdings" panose="05000000000000000000" pitchFamily="2" charset="2"/>
              <a:buChar char="Ø"/>
            </a:pPr>
            <a:r>
              <a:rPr lang="en-US" dirty="0">
                <a:latin typeface="Microsoft JhengHei UI" panose="020B0604030504040204" pitchFamily="34" charset="-120"/>
                <a:ea typeface="Microsoft JhengHei UI" panose="020B0604030504040204" pitchFamily="34" charset="-120"/>
              </a:rPr>
              <a:t>Product listing UI</a:t>
            </a:r>
          </a:p>
          <a:p>
            <a:pPr marL="742950" lvl="1" indent="-285750">
              <a:buFont typeface="Wingdings" panose="05000000000000000000" pitchFamily="2" charset="2"/>
              <a:buChar char="Ø"/>
            </a:pPr>
            <a:r>
              <a:rPr lang="en-US" dirty="0">
                <a:latin typeface="Microsoft JhengHei UI" panose="020B0604030504040204" pitchFamily="34" charset="-120"/>
                <a:ea typeface="Microsoft JhengHei UI" panose="020B0604030504040204" pitchFamily="34" charset="-120"/>
              </a:rPr>
              <a:t>Product detail page</a:t>
            </a:r>
          </a:p>
          <a:p>
            <a:pPr marL="742950" lvl="1" indent="-285750">
              <a:buFont typeface="Wingdings" panose="05000000000000000000" pitchFamily="2" charset="2"/>
              <a:buChar char="Ø"/>
            </a:pPr>
            <a:r>
              <a:rPr lang="en-US" dirty="0">
                <a:latin typeface="Microsoft JhengHei UI" panose="020B0604030504040204" pitchFamily="34" charset="-120"/>
                <a:ea typeface="Microsoft JhengHei UI" panose="020B0604030504040204" pitchFamily="34" charset="-120"/>
              </a:rPr>
              <a:t>Optimize button</a:t>
            </a:r>
          </a:p>
          <a:p>
            <a:pPr marL="742950" lvl="1" indent="-285750">
              <a:buFont typeface="Wingdings" panose="05000000000000000000" pitchFamily="2" charset="2"/>
              <a:buChar char="Ø"/>
            </a:pPr>
            <a:r>
              <a:rPr lang="en-US" dirty="0">
                <a:latin typeface="Microsoft JhengHei UI" panose="020B0604030504040204" pitchFamily="34" charset="-120"/>
                <a:ea typeface="Microsoft JhengHei UI" panose="020B0604030504040204" pitchFamily="34" charset="-120"/>
              </a:rPr>
              <a:t>Revenue graph</a:t>
            </a:r>
          </a:p>
          <a:p>
            <a:pPr marL="742950" lvl="1" indent="-285750">
              <a:buFont typeface="Wingdings" panose="05000000000000000000" pitchFamily="2" charset="2"/>
              <a:buChar char="Ø"/>
            </a:pPr>
            <a:r>
              <a:rPr lang="en-US" dirty="0">
                <a:latin typeface="Microsoft JhengHei UI" panose="020B0604030504040204" pitchFamily="34" charset="-120"/>
                <a:ea typeface="Microsoft JhengHei UI" panose="020B0604030504040204" pitchFamily="34" charset="-120"/>
              </a:rPr>
              <a:t>Price history graph</a:t>
            </a:r>
          </a:p>
          <a:p>
            <a:pPr marL="742950" lvl="1" indent="-285750">
              <a:buFont typeface="Wingdings" panose="05000000000000000000" pitchFamily="2" charset="2"/>
              <a:buChar char="Ø"/>
            </a:pPr>
            <a:r>
              <a:rPr lang="en-US" dirty="0">
                <a:latin typeface="Microsoft JhengHei UI" panose="020B0604030504040204" pitchFamily="34" charset="-120"/>
                <a:ea typeface="Microsoft JhengHei UI" panose="020B0604030504040204" pitchFamily="34" charset="-120"/>
              </a:rPr>
              <a:t>AI description</a:t>
            </a:r>
          </a:p>
        </p:txBody>
      </p:sp>
      <p:sp>
        <p:nvSpPr>
          <p:cNvPr id="14" name="Rectangle 13">
            <a:extLst>
              <a:ext uri="{FF2B5EF4-FFF2-40B4-BE49-F238E27FC236}">
                <a16:creationId xmlns:a16="http://schemas.microsoft.com/office/drawing/2014/main" id="{B36B2B71-F208-7683-E719-8AE3E62DA132}"/>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DD3EE9C2-3BF8-6CD6-2100-E0BF6F7933A0}"/>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pic>
        <p:nvPicPr>
          <p:cNvPr id="4" name="Picture 3">
            <a:extLst>
              <a:ext uri="{FF2B5EF4-FFF2-40B4-BE49-F238E27FC236}">
                <a16:creationId xmlns:a16="http://schemas.microsoft.com/office/drawing/2014/main" id="{DA0FCFE4-3284-5ED0-D9DD-3E3E264AA6FF}"/>
              </a:ext>
            </a:extLst>
          </p:cNvPr>
          <p:cNvPicPr>
            <a:picLocks noChangeAspect="1"/>
          </p:cNvPicPr>
          <p:nvPr/>
        </p:nvPicPr>
        <p:blipFill>
          <a:blip r:embed="rId5"/>
          <a:stretch>
            <a:fillRect/>
          </a:stretch>
        </p:blipFill>
        <p:spPr>
          <a:xfrm>
            <a:off x="4680155" y="1028275"/>
            <a:ext cx="5842665" cy="2387564"/>
          </a:xfrm>
          <a:prstGeom prst="rect">
            <a:avLst/>
          </a:prstGeom>
        </p:spPr>
      </p:pic>
      <p:pic>
        <p:nvPicPr>
          <p:cNvPr id="5" name="Picture 4">
            <a:extLst>
              <a:ext uri="{FF2B5EF4-FFF2-40B4-BE49-F238E27FC236}">
                <a16:creationId xmlns:a16="http://schemas.microsoft.com/office/drawing/2014/main" id="{672625CD-2753-527D-79A0-B25FE9BCFDDD}"/>
              </a:ext>
            </a:extLst>
          </p:cNvPr>
          <p:cNvPicPr>
            <a:picLocks noChangeAspect="1"/>
          </p:cNvPicPr>
          <p:nvPr/>
        </p:nvPicPr>
        <p:blipFill>
          <a:blip r:embed="rId6"/>
          <a:stretch>
            <a:fillRect/>
          </a:stretch>
        </p:blipFill>
        <p:spPr>
          <a:xfrm>
            <a:off x="558698" y="3590390"/>
            <a:ext cx="9319948" cy="2658477"/>
          </a:xfrm>
          <a:prstGeom prst="rect">
            <a:avLst/>
          </a:prstGeom>
        </p:spPr>
      </p:pic>
      <p:pic>
        <p:nvPicPr>
          <p:cNvPr id="7" name="Picture 6">
            <a:extLst>
              <a:ext uri="{FF2B5EF4-FFF2-40B4-BE49-F238E27FC236}">
                <a16:creationId xmlns:a16="http://schemas.microsoft.com/office/drawing/2014/main" id="{042911CC-EDCF-FFF2-8196-293C99D0B6F7}"/>
              </a:ext>
            </a:extLst>
          </p:cNvPr>
          <p:cNvPicPr>
            <a:picLocks noChangeAspect="1"/>
          </p:cNvPicPr>
          <p:nvPr/>
        </p:nvPicPr>
        <p:blipFill>
          <a:blip r:embed="rId7"/>
          <a:stretch>
            <a:fillRect/>
          </a:stretch>
        </p:blipFill>
        <p:spPr>
          <a:xfrm>
            <a:off x="0" y="272282"/>
            <a:ext cx="5425568" cy="2809546"/>
          </a:xfrm>
          <a:prstGeom prst="rect">
            <a:avLst/>
          </a:prstGeom>
        </p:spPr>
      </p:pic>
    </p:spTree>
    <p:extLst>
      <p:ext uri="{BB962C8B-B14F-4D97-AF65-F5344CB8AC3E}">
        <p14:creationId xmlns:p14="http://schemas.microsoft.com/office/powerpoint/2010/main" val="632878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B9D2-7798-71B5-2841-CC0D7B5F5669}"/>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5795E4E5-6563-CF3B-258C-FBB3D85DCD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80D25598-7252-9C29-F92B-E306D1221F50}"/>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AD22273-FA12-41FE-FB27-5CC124973958}"/>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14</a:t>
            </a:fld>
            <a:endParaRPr lang="en-US" sz="1600" dirty="0"/>
          </a:p>
        </p:txBody>
      </p:sp>
      <p:sp>
        <p:nvSpPr>
          <p:cNvPr id="9" name="Rectangle 8">
            <a:extLst>
              <a:ext uri="{FF2B5EF4-FFF2-40B4-BE49-F238E27FC236}">
                <a16:creationId xmlns:a16="http://schemas.microsoft.com/office/drawing/2014/main" id="{DE59D91D-2859-429B-B4D3-E8F8D095FEBA}"/>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ED87DD91-5DE2-D767-CE27-463633AAC9C0}"/>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FEATURE IMPLEMENTATION</a:t>
            </a:r>
          </a:p>
        </p:txBody>
      </p:sp>
      <p:pic>
        <p:nvPicPr>
          <p:cNvPr id="10" name="Google Shape;89;p1" descr="Logo, company name&#10;&#10;Description automatically generated">
            <a:extLst>
              <a:ext uri="{FF2B5EF4-FFF2-40B4-BE49-F238E27FC236}">
                <a16:creationId xmlns:a16="http://schemas.microsoft.com/office/drawing/2014/main" id="{9C1832A8-2226-23E7-749B-7B75A13A47ED}"/>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Rectangle 13">
            <a:extLst>
              <a:ext uri="{FF2B5EF4-FFF2-40B4-BE49-F238E27FC236}">
                <a16:creationId xmlns:a16="http://schemas.microsoft.com/office/drawing/2014/main" id="{183E7596-40B4-D681-1027-F30D4F812094}"/>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5F584F21-764A-BDBA-398C-508F374011D0}"/>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pic>
        <p:nvPicPr>
          <p:cNvPr id="7" name="Picture 6">
            <a:extLst>
              <a:ext uri="{FF2B5EF4-FFF2-40B4-BE49-F238E27FC236}">
                <a16:creationId xmlns:a16="http://schemas.microsoft.com/office/drawing/2014/main" id="{19492625-150B-19B4-0B52-CD9CAC90D0BC}"/>
              </a:ext>
            </a:extLst>
          </p:cNvPr>
          <p:cNvPicPr>
            <a:picLocks noChangeAspect="1"/>
          </p:cNvPicPr>
          <p:nvPr/>
        </p:nvPicPr>
        <p:blipFill>
          <a:blip r:embed="rId5"/>
          <a:stretch>
            <a:fillRect/>
          </a:stretch>
        </p:blipFill>
        <p:spPr>
          <a:xfrm>
            <a:off x="1799406" y="1571904"/>
            <a:ext cx="8177235" cy="4234454"/>
          </a:xfrm>
          <a:prstGeom prst="rect">
            <a:avLst/>
          </a:prstGeom>
        </p:spPr>
      </p:pic>
    </p:spTree>
    <p:extLst>
      <p:ext uri="{BB962C8B-B14F-4D97-AF65-F5344CB8AC3E}">
        <p14:creationId xmlns:p14="http://schemas.microsoft.com/office/powerpoint/2010/main" val="942958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57F69-D7A1-A350-5E85-2A5801E9DFA2}"/>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333D61DA-82A1-2970-DCAF-AD3C80BAE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498CB356-238C-7AC7-84CB-89C58418E5D0}"/>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424BAEE-C372-26C2-B921-637811EE1195}"/>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15</a:t>
            </a:fld>
            <a:endParaRPr lang="en-US" sz="1600" dirty="0"/>
          </a:p>
        </p:txBody>
      </p:sp>
      <p:sp>
        <p:nvSpPr>
          <p:cNvPr id="9" name="Rectangle 8">
            <a:extLst>
              <a:ext uri="{FF2B5EF4-FFF2-40B4-BE49-F238E27FC236}">
                <a16:creationId xmlns:a16="http://schemas.microsoft.com/office/drawing/2014/main" id="{1406EDBA-512C-E3CE-B4C4-797CD1580D58}"/>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01FD8170-1A50-AAC0-CBF3-8080D125B1E8}"/>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TESTING &amp; RESULTS</a:t>
            </a:r>
          </a:p>
        </p:txBody>
      </p:sp>
      <p:pic>
        <p:nvPicPr>
          <p:cNvPr id="10" name="Google Shape;89;p1" descr="Logo, company name&#10;&#10;Description automatically generated">
            <a:extLst>
              <a:ext uri="{FF2B5EF4-FFF2-40B4-BE49-F238E27FC236}">
                <a16:creationId xmlns:a16="http://schemas.microsoft.com/office/drawing/2014/main" id="{BA26A061-93C1-0B06-8B5B-7C73F32A983C}"/>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AFF8AC7C-98D6-F3EB-237A-DADFDDC31D44}"/>
              </a:ext>
            </a:extLst>
          </p:cNvPr>
          <p:cNvSpPr txBox="1"/>
          <p:nvPr/>
        </p:nvSpPr>
        <p:spPr>
          <a:xfrm>
            <a:off x="96635" y="1429166"/>
            <a:ext cx="11922105" cy="4478149"/>
          </a:xfrm>
          <a:prstGeom prst="rect">
            <a:avLst/>
          </a:prstGeom>
          <a:noFill/>
        </p:spPr>
        <p:txBody>
          <a:bodyPr wrap="square">
            <a:spAutoFit/>
          </a:bodyPr>
          <a:lstStyle/>
          <a:p>
            <a:pPr marL="285750" indent="-285750">
              <a:spcBef>
                <a:spcPts val="1200"/>
              </a:spcBef>
              <a:spcAft>
                <a:spcPts val="300"/>
              </a:spcAft>
              <a:buFont typeface="Wingdings" panose="05000000000000000000" pitchFamily="2" charset="2"/>
              <a:buChar char="§"/>
            </a:pPr>
            <a:r>
              <a:rPr lang="en-US" sz="2000" b="1" dirty="0">
                <a:latin typeface="Microsoft JhengHei UI" panose="020B0604030504040204" pitchFamily="34" charset="-120"/>
                <a:ea typeface="Microsoft JhengHei UI" panose="020B0604030504040204" pitchFamily="34" charset="-120"/>
              </a:rPr>
              <a:t>Testing:</a:t>
            </a:r>
          </a:p>
          <a:p>
            <a:pPr lvl="1"/>
            <a:r>
              <a:rPr lang="en-US" sz="2000" dirty="0">
                <a:latin typeface="Microsoft JhengHei UI" panose="020B0604030504040204" pitchFamily="34" charset="-120"/>
                <a:ea typeface="Microsoft JhengHei UI" panose="020B0604030504040204" pitchFamily="34" charset="-120"/>
              </a:rPr>
              <a:t>- Tested different price ranges</a:t>
            </a:r>
          </a:p>
          <a:p>
            <a:pPr lvl="1"/>
            <a:r>
              <a:rPr lang="en-US" sz="2000" dirty="0">
                <a:latin typeface="Microsoft JhengHei UI" panose="020B0604030504040204" pitchFamily="34" charset="-120"/>
                <a:ea typeface="Microsoft JhengHei UI" panose="020B0604030504040204" pitchFamily="34" charset="-120"/>
              </a:rPr>
              <a:t>- Verified demand prediction</a:t>
            </a:r>
          </a:p>
          <a:p>
            <a:pPr lvl="1"/>
            <a:r>
              <a:rPr lang="en-US" sz="2000" dirty="0">
                <a:latin typeface="Microsoft JhengHei UI" panose="020B0604030504040204" pitchFamily="34" charset="-120"/>
                <a:ea typeface="Microsoft JhengHei UI" panose="020B0604030504040204" pitchFamily="34" charset="-120"/>
              </a:rPr>
              <a:t>- Checked API responses</a:t>
            </a:r>
          </a:p>
          <a:p>
            <a:pPr marL="285750" indent="-285750">
              <a:spcAft>
                <a:spcPts val="300"/>
              </a:spcAft>
              <a:buFont typeface="Wingdings" panose="05000000000000000000" pitchFamily="2" charset="2"/>
              <a:buChar char="§"/>
            </a:pPr>
            <a:r>
              <a:rPr lang="en-US" sz="2000" b="1" dirty="0">
                <a:latin typeface="Microsoft JhengHei UI" panose="020B0604030504040204" pitchFamily="34" charset="-120"/>
                <a:ea typeface="Microsoft JhengHei UI" panose="020B0604030504040204" pitchFamily="34" charset="-120"/>
              </a:rPr>
              <a:t>Results:</a:t>
            </a:r>
          </a:p>
          <a:p>
            <a:pPr lvl="1"/>
            <a:r>
              <a:rPr lang="en-US" sz="2000" dirty="0">
                <a:latin typeface="Microsoft JhengHei UI" panose="020B0604030504040204" pitchFamily="34" charset="-120"/>
                <a:ea typeface="Microsoft JhengHei UI" panose="020B0604030504040204" pitchFamily="34" charset="-120"/>
              </a:rPr>
              <a:t>- Revenue curve generated</a:t>
            </a:r>
          </a:p>
          <a:p>
            <a:pPr lvl="1"/>
            <a:r>
              <a:rPr lang="en-US" sz="2000" dirty="0">
                <a:latin typeface="Microsoft JhengHei UI" panose="020B0604030504040204" pitchFamily="34" charset="-120"/>
                <a:ea typeface="Microsoft JhengHei UI" panose="020B0604030504040204" pitchFamily="34" charset="-120"/>
              </a:rPr>
              <a:t>- Optimal price identified</a:t>
            </a:r>
          </a:p>
          <a:p>
            <a:pPr lvl="1"/>
            <a:r>
              <a:rPr lang="en-US" sz="2000" dirty="0">
                <a:latin typeface="Microsoft JhengHei UI" panose="020B0604030504040204" pitchFamily="34" charset="-120"/>
                <a:ea typeface="Microsoft JhengHei UI" panose="020B0604030504040204" pitchFamily="34" charset="-120"/>
              </a:rPr>
              <a:t>- Demand decreases with price increase</a:t>
            </a:r>
          </a:p>
          <a:p>
            <a:pPr lvl="1"/>
            <a:r>
              <a:rPr lang="en-US" sz="2000" dirty="0">
                <a:latin typeface="Microsoft JhengHei UI" panose="020B0604030504040204" pitchFamily="34" charset="-120"/>
                <a:ea typeface="Microsoft JhengHei UI" panose="020B0604030504040204" pitchFamily="34" charset="-120"/>
              </a:rPr>
              <a:t>- System working successfully</a:t>
            </a:r>
          </a:p>
          <a:p>
            <a:pPr>
              <a:buFont typeface="Arial" panose="020B0604020202020204" pitchFamily="34" charset="0"/>
              <a:buChar char="•"/>
            </a:pPr>
            <a:endParaRPr lang="en-US" sz="2000" dirty="0">
              <a:latin typeface="Microsoft JhengHei UI" panose="020B0604030504040204" pitchFamily="34" charset="-120"/>
              <a:ea typeface="Microsoft JhengHei UI" panose="020B0604030504040204" pitchFamily="34" charset="-120"/>
            </a:endParaRPr>
          </a:p>
          <a:p>
            <a:pPr marL="285750" indent="-285750">
              <a:buFont typeface="Wingdings" panose="05000000000000000000" pitchFamily="2" charset="2"/>
              <a:buChar char="§"/>
            </a:pPr>
            <a:r>
              <a:rPr lang="en-US" sz="2000" b="1" dirty="0">
                <a:latin typeface="Microsoft JhengHei UI" panose="020B0604030504040204" pitchFamily="34" charset="-120"/>
                <a:ea typeface="Microsoft JhengHei UI" panose="020B0604030504040204" pitchFamily="34" charset="-120"/>
              </a:rPr>
              <a:t>Key Metrics:</a:t>
            </a:r>
          </a:p>
          <a:p>
            <a:pPr lvl="1"/>
            <a:r>
              <a:rPr lang="en-US" sz="2000" dirty="0">
                <a:latin typeface="Microsoft JhengHei UI" panose="020B0604030504040204" pitchFamily="34" charset="-120"/>
                <a:ea typeface="Microsoft JhengHei UI" panose="020B0604030504040204" pitchFamily="34" charset="-120"/>
              </a:rPr>
              <a:t>- Revenue maximization</a:t>
            </a:r>
          </a:p>
          <a:p>
            <a:pPr lvl="1"/>
            <a:r>
              <a:rPr lang="en-US" sz="2000" dirty="0">
                <a:latin typeface="Microsoft JhengHei UI" panose="020B0604030504040204" pitchFamily="34" charset="-120"/>
                <a:ea typeface="Microsoft JhengHei UI" panose="020B0604030504040204" pitchFamily="34" charset="-120"/>
              </a:rPr>
              <a:t>- Demand prediction accuracy</a:t>
            </a:r>
          </a:p>
          <a:p>
            <a:pPr lvl="1"/>
            <a:r>
              <a:rPr lang="en-US" sz="2000" dirty="0">
                <a:latin typeface="Microsoft JhengHei UI" panose="020B0604030504040204" pitchFamily="34" charset="-120"/>
                <a:ea typeface="Microsoft JhengHei UI" panose="020B0604030504040204" pitchFamily="34" charset="-120"/>
              </a:rPr>
              <a:t>- Response time</a:t>
            </a:r>
          </a:p>
        </p:txBody>
      </p:sp>
      <p:sp>
        <p:nvSpPr>
          <p:cNvPr id="14" name="Rectangle 13">
            <a:extLst>
              <a:ext uri="{FF2B5EF4-FFF2-40B4-BE49-F238E27FC236}">
                <a16:creationId xmlns:a16="http://schemas.microsoft.com/office/drawing/2014/main" id="{1EC1CA74-68AC-E8DF-0A83-2D9FE9FDE372}"/>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D126F95A-E213-ED79-E00F-34DDF759D221}"/>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528337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10D0-F634-E7F0-5D2A-CAB749940359}"/>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D1376373-41FD-F717-E2FB-12481844B9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9AF4856B-2F07-3367-E58E-BB2B9E4DC0D3}"/>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D0B7260-F2F5-6A99-A001-F0A26F15A19D}"/>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16</a:t>
            </a:fld>
            <a:endParaRPr lang="en-US" sz="1600" dirty="0"/>
          </a:p>
        </p:txBody>
      </p:sp>
      <p:sp>
        <p:nvSpPr>
          <p:cNvPr id="9" name="Rectangle 8">
            <a:extLst>
              <a:ext uri="{FF2B5EF4-FFF2-40B4-BE49-F238E27FC236}">
                <a16:creationId xmlns:a16="http://schemas.microsoft.com/office/drawing/2014/main" id="{AAE0B413-D9CB-B4F7-304D-6C0944982FCB}"/>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1ECDBF68-BB0F-F40B-C8D2-F984C4388A99}"/>
              </a:ext>
            </a:extLst>
          </p:cNvPr>
          <p:cNvSpPr txBox="1">
            <a:spLocks/>
          </p:cNvSpPr>
          <p:nvPr/>
        </p:nvSpPr>
        <p:spPr>
          <a:xfrm>
            <a:off x="1202872" y="163687"/>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IN" sz="3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TESTING &amp; RESULTS</a:t>
            </a:r>
          </a:p>
        </p:txBody>
      </p:sp>
      <p:pic>
        <p:nvPicPr>
          <p:cNvPr id="10" name="Google Shape;89;p1" descr="Logo, company name&#10;&#10;Description automatically generated">
            <a:extLst>
              <a:ext uri="{FF2B5EF4-FFF2-40B4-BE49-F238E27FC236}">
                <a16:creationId xmlns:a16="http://schemas.microsoft.com/office/drawing/2014/main" id="{748EA39E-1EFB-7245-2419-F0109BD33DB5}"/>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Rectangle 13">
            <a:extLst>
              <a:ext uri="{FF2B5EF4-FFF2-40B4-BE49-F238E27FC236}">
                <a16:creationId xmlns:a16="http://schemas.microsoft.com/office/drawing/2014/main" id="{1B87E3C6-0092-D3A3-866C-B50F60C0D342}"/>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F2530501-68FD-E7DB-5A9B-1E276EB12960}"/>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pic>
        <p:nvPicPr>
          <p:cNvPr id="4" name="Picture 3">
            <a:extLst>
              <a:ext uri="{FF2B5EF4-FFF2-40B4-BE49-F238E27FC236}">
                <a16:creationId xmlns:a16="http://schemas.microsoft.com/office/drawing/2014/main" id="{CBF08848-9088-BA75-DCD8-1A25C154F6AA}"/>
              </a:ext>
            </a:extLst>
          </p:cNvPr>
          <p:cNvPicPr>
            <a:picLocks noChangeAspect="1"/>
          </p:cNvPicPr>
          <p:nvPr/>
        </p:nvPicPr>
        <p:blipFill>
          <a:blip r:embed="rId5"/>
          <a:stretch>
            <a:fillRect/>
          </a:stretch>
        </p:blipFill>
        <p:spPr>
          <a:xfrm>
            <a:off x="319679" y="1012030"/>
            <a:ext cx="5668167" cy="2614978"/>
          </a:xfrm>
          <a:prstGeom prst="rect">
            <a:avLst/>
          </a:prstGeom>
        </p:spPr>
      </p:pic>
      <p:pic>
        <p:nvPicPr>
          <p:cNvPr id="5" name="Picture 4">
            <a:extLst>
              <a:ext uri="{FF2B5EF4-FFF2-40B4-BE49-F238E27FC236}">
                <a16:creationId xmlns:a16="http://schemas.microsoft.com/office/drawing/2014/main" id="{A194634B-39F6-4415-3743-A84F5EF390D4}"/>
              </a:ext>
            </a:extLst>
          </p:cNvPr>
          <p:cNvPicPr>
            <a:picLocks noChangeAspect="1"/>
          </p:cNvPicPr>
          <p:nvPr/>
        </p:nvPicPr>
        <p:blipFill>
          <a:blip r:embed="rId6"/>
          <a:stretch>
            <a:fillRect/>
          </a:stretch>
        </p:blipFill>
        <p:spPr>
          <a:xfrm>
            <a:off x="5987846" y="1183629"/>
            <a:ext cx="5255887" cy="2684505"/>
          </a:xfrm>
          <a:prstGeom prst="rect">
            <a:avLst/>
          </a:prstGeom>
        </p:spPr>
      </p:pic>
      <p:pic>
        <p:nvPicPr>
          <p:cNvPr id="6" name="Picture 5">
            <a:extLst>
              <a:ext uri="{FF2B5EF4-FFF2-40B4-BE49-F238E27FC236}">
                <a16:creationId xmlns:a16="http://schemas.microsoft.com/office/drawing/2014/main" id="{F48F87F1-ED2F-ED08-AC1A-71ED1C9E55A6}"/>
              </a:ext>
            </a:extLst>
          </p:cNvPr>
          <p:cNvPicPr>
            <a:picLocks noChangeAspect="1"/>
          </p:cNvPicPr>
          <p:nvPr/>
        </p:nvPicPr>
        <p:blipFill>
          <a:blip r:embed="rId7"/>
          <a:stretch>
            <a:fillRect/>
          </a:stretch>
        </p:blipFill>
        <p:spPr>
          <a:xfrm>
            <a:off x="558698" y="3946642"/>
            <a:ext cx="7620102" cy="2364407"/>
          </a:xfrm>
          <a:prstGeom prst="rect">
            <a:avLst/>
          </a:prstGeom>
        </p:spPr>
      </p:pic>
    </p:spTree>
    <p:extLst>
      <p:ext uri="{BB962C8B-B14F-4D97-AF65-F5344CB8AC3E}">
        <p14:creationId xmlns:p14="http://schemas.microsoft.com/office/powerpoint/2010/main" val="242264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FA12E-073D-98CA-8E20-C26C3AAD9491}"/>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6E3538E7-FDD6-07DF-F4CB-68400869F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73D3C8AE-790A-3F0A-E863-5FB5141F801A}"/>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06B9B9C-5704-6B78-F47B-2BA6E2ACFCEA}"/>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17</a:t>
            </a:fld>
            <a:endParaRPr lang="en-US" sz="1600" dirty="0"/>
          </a:p>
        </p:txBody>
      </p:sp>
      <p:sp>
        <p:nvSpPr>
          <p:cNvPr id="9" name="Rectangle 8">
            <a:extLst>
              <a:ext uri="{FF2B5EF4-FFF2-40B4-BE49-F238E27FC236}">
                <a16:creationId xmlns:a16="http://schemas.microsoft.com/office/drawing/2014/main" id="{D903E46B-DA11-795B-7D86-17622E183CD9}"/>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77FC4A4E-C51A-7D33-54DC-D2A2A776263E}"/>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US"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Conclusion &amp; Future Work</a:t>
            </a:r>
          </a:p>
        </p:txBody>
      </p:sp>
      <p:pic>
        <p:nvPicPr>
          <p:cNvPr id="10" name="Google Shape;89;p1" descr="Logo, company name&#10;&#10;Description automatically generated">
            <a:extLst>
              <a:ext uri="{FF2B5EF4-FFF2-40B4-BE49-F238E27FC236}">
                <a16:creationId xmlns:a16="http://schemas.microsoft.com/office/drawing/2014/main" id="{0AC3BF3D-9303-A5AB-4101-61A9987AD1BA}"/>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62BB87C6-EDD7-CB0F-7FC1-39646B36DE1B}"/>
              </a:ext>
            </a:extLst>
          </p:cNvPr>
          <p:cNvSpPr txBox="1"/>
          <p:nvPr/>
        </p:nvSpPr>
        <p:spPr>
          <a:xfrm>
            <a:off x="64399" y="1342075"/>
            <a:ext cx="11922105" cy="4224041"/>
          </a:xfrm>
          <a:prstGeom prst="rect">
            <a:avLst/>
          </a:prstGeom>
          <a:noFill/>
        </p:spPr>
        <p:txBody>
          <a:bodyPr wrap="square">
            <a:spAutoFit/>
          </a:bodyPr>
          <a:lstStyle/>
          <a:p>
            <a:pPr algn="just">
              <a:lnSpc>
                <a:spcPts val="3200"/>
              </a:lnSpc>
              <a:spcBef>
                <a:spcPts val="1200"/>
              </a:spcBef>
            </a:pPr>
            <a:r>
              <a:rPr lang="en-US" sz="2200" b="1" dirty="0">
                <a:latin typeface="Microsoft JhengHei UI" panose="020B0604030504040204" pitchFamily="34" charset="-120"/>
                <a:ea typeface="Microsoft JhengHei UI" panose="020B0604030504040204" pitchFamily="34" charset="-120"/>
              </a:rPr>
              <a:t>Conclusion</a:t>
            </a:r>
          </a:p>
          <a:p>
            <a:pPr marL="342900" indent="-342900" algn="just">
              <a:lnSpc>
                <a:spcPts val="3200"/>
              </a:lnSpc>
              <a:spcBef>
                <a:spcPts val="1200"/>
              </a:spcBef>
              <a:buFont typeface="Arial" panose="020B0604020202020204" pitchFamily="34" charset="0"/>
              <a:buChar char="•"/>
            </a:pPr>
            <a:r>
              <a:rPr lang="en-US" sz="2200" dirty="0">
                <a:latin typeface="Microsoft JhengHei UI" panose="020B0604030504040204" pitchFamily="34" charset="-120"/>
                <a:ea typeface="Microsoft JhengHei UI" panose="020B0604030504040204" pitchFamily="34" charset="-120"/>
              </a:rPr>
              <a:t>The proposed project addresses a real-world problem in B2C platforms using AI techniques.</a:t>
            </a:r>
          </a:p>
          <a:p>
            <a:pPr marL="342900" indent="-342900" algn="just">
              <a:lnSpc>
                <a:spcPts val="3200"/>
              </a:lnSpc>
              <a:spcBef>
                <a:spcPts val="1200"/>
              </a:spcBef>
              <a:buFont typeface="Arial" panose="020B0604020202020204" pitchFamily="34" charset="0"/>
              <a:buChar char="•"/>
            </a:pPr>
            <a:r>
              <a:rPr lang="en-US" sz="2200" dirty="0">
                <a:latin typeface="Microsoft JhengHei UI" panose="020B0604030504040204" pitchFamily="34" charset="-120"/>
                <a:ea typeface="Microsoft JhengHei UI" panose="020B0604030504040204" pitchFamily="34" charset="-120"/>
              </a:rPr>
              <a:t>It focuses on decision support rather than automation, ensuring academic safety.</a:t>
            </a:r>
          </a:p>
          <a:p>
            <a:pPr marL="342900" indent="-342900" algn="just">
              <a:lnSpc>
                <a:spcPts val="3200"/>
              </a:lnSpc>
              <a:spcBef>
                <a:spcPts val="1200"/>
              </a:spcBef>
              <a:buFont typeface="Arial" panose="020B0604020202020204" pitchFamily="34" charset="0"/>
              <a:buChar char="•"/>
            </a:pPr>
            <a:r>
              <a:rPr lang="en-US" sz="2200" dirty="0">
                <a:latin typeface="Microsoft JhengHei UI" panose="020B0604030504040204" pitchFamily="34" charset="-120"/>
                <a:ea typeface="Microsoft JhengHei UI" panose="020B0604030504040204" pitchFamily="34" charset="-120"/>
              </a:rPr>
              <a:t>The project demonstrates practical application of Machine Learning and Generative AI.</a:t>
            </a:r>
          </a:p>
          <a:p>
            <a:pPr algn="just">
              <a:lnSpc>
                <a:spcPct val="150000"/>
              </a:lnSpc>
              <a:spcBef>
                <a:spcPts val="1200"/>
              </a:spcBef>
            </a:pPr>
            <a:r>
              <a:rPr lang="en-US" sz="2200" b="1" dirty="0">
                <a:latin typeface="Microsoft JhengHei UI" panose="020B0604030504040204" pitchFamily="34" charset="-120"/>
                <a:ea typeface="Microsoft JhengHei UI" panose="020B0604030504040204" pitchFamily="34" charset="-120"/>
              </a:rPr>
              <a:t>Future Work</a:t>
            </a:r>
          </a:p>
          <a:p>
            <a:pPr marL="800100" lvl="1" indent="-342900">
              <a:lnSpc>
                <a:spcPct val="150000"/>
              </a:lnSpc>
              <a:buFont typeface="Arial" panose="020B0604020202020204" pitchFamily="34" charset="0"/>
              <a:buChar char="•"/>
            </a:pPr>
            <a:r>
              <a:rPr lang="en-US" sz="2200" dirty="0">
                <a:latin typeface="Microsoft JhengHei UI" panose="020B0604030504040204" pitchFamily="34" charset="-120"/>
                <a:ea typeface="Microsoft JhengHei UI" panose="020B0604030504040204" pitchFamily="34" charset="-120"/>
              </a:rPr>
              <a:t>Integrate live data streams (user traffic, demand spikes)</a:t>
            </a:r>
          </a:p>
          <a:p>
            <a:pPr marL="800100" lvl="1" indent="-342900">
              <a:lnSpc>
                <a:spcPct val="150000"/>
              </a:lnSpc>
              <a:buFont typeface="Arial" panose="020B0604020202020204" pitchFamily="34" charset="0"/>
              <a:buChar char="•"/>
            </a:pPr>
            <a:r>
              <a:rPr lang="en-US" sz="2200" dirty="0">
                <a:latin typeface="Microsoft JhengHei UI" panose="020B0604030504040204" pitchFamily="34" charset="-120"/>
                <a:ea typeface="Microsoft JhengHei UI" panose="020B0604030504040204" pitchFamily="34" charset="-120"/>
              </a:rPr>
              <a:t>Automatically update prices without manual trigger</a:t>
            </a:r>
          </a:p>
        </p:txBody>
      </p:sp>
      <p:sp>
        <p:nvSpPr>
          <p:cNvPr id="14" name="Rectangle 13">
            <a:extLst>
              <a:ext uri="{FF2B5EF4-FFF2-40B4-BE49-F238E27FC236}">
                <a16:creationId xmlns:a16="http://schemas.microsoft.com/office/drawing/2014/main" id="{8A40F487-AE3E-48CC-980B-693F5B961103}"/>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C9398371-8D87-C823-D04B-80CBC43A8EC4}"/>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4219801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EFB4C-F9FF-DF56-3878-9894C684E468}"/>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2AF31187-D3D2-F469-BCBA-BB541BA94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2CA758E5-0951-B3EE-FBBB-DC0A7B3C5AFB}"/>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A538A3D3-E25C-98C0-1B63-51C833A7F65C}"/>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18</a:t>
            </a:fld>
            <a:endParaRPr lang="en-US" sz="1600" dirty="0"/>
          </a:p>
        </p:txBody>
      </p:sp>
      <p:sp>
        <p:nvSpPr>
          <p:cNvPr id="9" name="Rectangle 8">
            <a:extLst>
              <a:ext uri="{FF2B5EF4-FFF2-40B4-BE49-F238E27FC236}">
                <a16:creationId xmlns:a16="http://schemas.microsoft.com/office/drawing/2014/main" id="{63ACC395-80F5-40AA-49A5-4E6B60185E72}"/>
              </a:ext>
            </a:extLst>
          </p:cNvPr>
          <p:cNvSpPr/>
          <p:nvPr/>
        </p:nvSpPr>
        <p:spPr>
          <a:xfrm>
            <a:off x="1202872" y="-6922"/>
            <a:ext cx="9786257" cy="959835"/>
          </a:xfrm>
          <a:prstGeom prst="rect">
            <a:avLst/>
          </a:prstGeom>
          <a:solidFill>
            <a:srgbClr val="2184C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Title 1">
            <a:extLst>
              <a:ext uri="{FF2B5EF4-FFF2-40B4-BE49-F238E27FC236}">
                <a16:creationId xmlns:a16="http://schemas.microsoft.com/office/drawing/2014/main" id="{C524CB81-BDC4-9923-D40F-322115D0FD89}"/>
              </a:ext>
            </a:extLst>
          </p:cNvPr>
          <p:cNvSpPr txBox="1">
            <a:spLocks/>
          </p:cNvSpPr>
          <p:nvPr/>
        </p:nvSpPr>
        <p:spPr>
          <a:xfrm>
            <a:off x="1202872" y="152400"/>
            <a:ext cx="9786256" cy="700308"/>
          </a:xfrm>
          <a:prstGeom prst="rect">
            <a:avLst/>
          </a:prstGeom>
        </p:spPr>
        <p:txBody>
          <a:bodyPr vert="horz" lIns="91440" tIns="45720" rIns="91440" bIns="45720" rtlCol="0" anchor="ctr" anchorCtr="0">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US" sz="40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References</a:t>
            </a:r>
          </a:p>
        </p:txBody>
      </p:sp>
      <p:pic>
        <p:nvPicPr>
          <p:cNvPr id="10" name="Google Shape;89;p1" descr="Logo, company name&#10;&#10;Description automatically generated">
            <a:extLst>
              <a:ext uri="{FF2B5EF4-FFF2-40B4-BE49-F238E27FC236}">
                <a16:creationId xmlns:a16="http://schemas.microsoft.com/office/drawing/2014/main" id="{7F679389-535D-D197-D300-B8D8E6D09264}"/>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2" name="TextBox 11">
            <a:extLst>
              <a:ext uri="{FF2B5EF4-FFF2-40B4-BE49-F238E27FC236}">
                <a16:creationId xmlns:a16="http://schemas.microsoft.com/office/drawing/2014/main" id="{3E5C2039-A635-9152-86AE-A14BE35A9A99}"/>
              </a:ext>
            </a:extLst>
          </p:cNvPr>
          <p:cNvSpPr txBox="1"/>
          <p:nvPr/>
        </p:nvSpPr>
        <p:spPr>
          <a:xfrm>
            <a:off x="234597" y="1656017"/>
            <a:ext cx="11922105" cy="1430263"/>
          </a:xfrm>
          <a:prstGeom prst="rect">
            <a:avLst/>
          </a:prstGeom>
          <a:noFill/>
        </p:spPr>
        <p:txBody>
          <a:bodyPr wrap="square">
            <a:spAutoFit/>
          </a:bodyPr>
          <a:lstStyle/>
          <a:p>
            <a:pPr algn="just">
              <a:lnSpc>
                <a:spcPts val="3200"/>
              </a:lnSpc>
              <a:spcBef>
                <a:spcPts val="1200"/>
              </a:spcBef>
            </a:pPr>
            <a:r>
              <a:rPr lang="en-US" sz="2400" dirty="0"/>
              <a:t>Gil, Andrea. "Using reinforcement learning in Dynamic Pricing Models." </a:t>
            </a:r>
            <a:r>
              <a:rPr lang="en-US" sz="2400" i="1" dirty="0"/>
              <a:t>Baltic Journal of Multidisciplinary Research</a:t>
            </a:r>
            <a:r>
              <a:rPr lang="en-US" sz="2400" dirty="0"/>
              <a:t> 2.4 (2025): 48-69.</a:t>
            </a:r>
            <a:endParaRPr lang="en-US" sz="2400" b="1" dirty="0">
              <a:latin typeface="Microsoft JhengHei UI" panose="020B0604030504040204" pitchFamily="34" charset="-120"/>
              <a:ea typeface="Microsoft JhengHei UI" panose="020B0604030504040204" pitchFamily="34" charset="-120"/>
            </a:endParaRPr>
          </a:p>
          <a:p>
            <a:pPr algn="just">
              <a:lnSpc>
                <a:spcPts val="3200"/>
              </a:lnSpc>
              <a:spcBef>
                <a:spcPts val="1200"/>
              </a:spcBef>
            </a:pPr>
            <a:r>
              <a:rPr lang="en-US" b="1" dirty="0">
                <a:latin typeface="Microsoft JhengHei UI" panose="020B0604030504040204" pitchFamily="34" charset="-120"/>
                <a:ea typeface="Microsoft JhengHei UI" panose="020B0604030504040204" pitchFamily="34" charset="-120"/>
              </a:rPr>
              <a:t>http://balticpapers.com/index.php/bjmr/article/view/82</a:t>
            </a:r>
          </a:p>
        </p:txBody>
      </p:sp>
      <p:sp>
        <p:nvSpPr>
          <p:cNvPr id="14" name="Rectangle 13">
            <a:extLst>
              <a:ext uri="{FF2B5EF4-FFF2-40B4-BE49-F238E27FC236}">
                <a16:creationId xmlns:a16="http://schemas.microsoft.com/office/drawing/2014/main" id="{E795814E-6A69-D6EF-7E0F-7F2E72D180D8}"/>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12302040501012,15,19</a:t>
            </a:r>
          </a:p>
        </p:txBody>
      </p:sp>
      <p:sp>
        <p:nvSpPr>
          <p:cNvPr id="2" name="Rectangle 1">
            <a:extLst>
              <a:ext uri="{FF2B5EF4-FFF2-40B4-BE49-F238E27FC236}">
                <a16:creationId xmlns:a16="http://schemas.microsoft.com/office/drawing/2014/main" id="{E511E704-305F-D597-FB35-0294844417E8}"/>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872496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60097" y="60285"/>
            <a:ext cx="858643" cy="914400"/>
          </a:xfrm>
          <a:prstGeom prst="rect">
            <a:avLst/>
          </a:prstGeom>
        </p:spPr>
      </p:pic>
      <p:sp>
        <p:nvSpPr>
          <p:cNvPr id="8" name="Content Placeholder 2">
            <a:extLst>
              <a:ext uri="{FF2B5EF4-FFF2-40B4-BE49-F238E27FC236}">
                <a16:creationId xmlns:a16="http://schemas.microsoft.com/office/drawing/2014/main" id="{757A248D-4C0C-489D-8BA3-32026891603B}"/>
              </a:ext>
            </a:extLst>
          </p:cNvPr>
          <p:cNvSpPr txBox="1">
            <a:spLocks/>
          </p:cNvSpPr>
          <p:nvPr/>
        </p:nvSpPr>
        <p:spPr>
          <a:xfrm>
            <a:off x="8463280" y="863594"/>
            <a:ext cx="3906344" cy="513081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a:lnSpc>
                <a:spcPct val="100000"/>
              </a:lnSpc>
              <a:spcBef>
                <a:spcPts val="1500"/>
              </a:spcBef>
              <a:spcAft>
                <a:spcPts val="0"/>
              </a:spcAft>
              <a:buClr>
                <a:schemeClr val="bg2">
                  <a:lumMod val="25000"/>
                </a:schemeClr>
              </a:buCl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a:p>
            <a:pPr marL="342900" indent="-342900">
              <a:lnSpc>
                <a:spcPct val="100000"/>
              </a:lnSpc>
              <a:spcBef>
                <a:spcPts val="1500"/>
              </a:spcBef>
              <a:spcAft>
                <a:spcPts val="0"/>
              </a:spcAft>
              <a:buClr>
                <a:schemeClr val="bg2">
                  <a:lumMod val="25000"/>
                </a:schemeClr>
              </a:buClr>
              <a:buFont typeface="Wingdings" panose="05000000000000000000" pitchFamily="2" charset="2"/>
              <a:buChar char="§"/>
            </a:pPr>
            <a:endParaRPr lang="en-US" sz="2000" b="1" cap="small" spc="150" dirty="0">
              <a:solidFill>
                <a:schemeClr val="tx1"/>
              </a:solidFill>
              <a:latin typeface="Microsoft JhengHei UI" panose="020B0604030504040204" pitchFamily="34" charset="-120"/>
              <a:ea typeface="Microsoft JhengHei UI" panose="020B0604030504040204" pitchFamily="34" charset="-12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14FCD32-1B88-49B1-B3D6-3661ABD56F33}"/>
              </a:ext>
            </a:extLst>
          </p:cNvPr>
          <p:cNvSpPr>
            <a:spLocks noGrp="1"/>
          </p:cNvSpPr>
          <p:nvPr>
            <p:ph type="sldNum" sz="quarter" idx="12"/>
          </p:nvPr>
        </p:nvSpPr>
        <p:spPr>
          <a:xfrm>
            <a:off x="11669486" y="6503329"/>
            <a:ext cx="487216" cy="354671"/>
          </a:xfrm>
        </p:spPr>
        <p:txBody>
          <a:bodyPr/>
          <a:lstStyle/>
          <a:p>
            <a:fld id="{D57F1E4F-1CFF-5643-939E-02111984F565}" type="slidenum">
              <a:rPr lang="en-US" sz="1600" smtClean="0"/>
              <a:pPr/>
              <a:t>19</a:t>
            </a:fld>
            <a:endParaRPr lang="en-US" sz="1600" dirty="0"/>
          </a:p>
        </p:txBody>
      </p:sp>
      <p:pic>
        <p:nvPicPr>
          <p:cNvPr id="10" name="Google Shape;89;p1" descr="Logo, company name&#10;&#10;Description automatically generated">
            <a:extLst>
              <a:ext uri="{FF2B5EF4-FFF2-40B4-BE49-F238E27FC236}">
                <a16:creationId xmlns:a16="http://schemas.microsoft.com/office/drawing/2014/main" id="{2DB6BB17-0A95-438B-B361-179E033136C0}"/>
              </a:ext>
            </a:extLst>
          </p:cNvPr>
          <p:cNvPicPr preferRelativeResize="0">
            <a:picLocks noChangeAspect="1"/>
          </p:cNvPicPr>
          <p:nvPr/>
        </p:nvPicPr>
        <p:blipFill rotWithShape="1">
          <a:blip r:embed="rId4">
            <a:alphaModFix/>
          </a:blip>
          <a:srcRect l="22687" t="23899" r="24741" b="27454"/>
          <a:stretch/>
        </p:blipFill>
        <p:spPr>
          <a:xfrm>
            <a:off x="64399" y="49399"/>
            <a:ext cx="988599" cy="914400"/>
          </a:xfrm>
          <a:prstGeom prst="rect">
            <a:avLst/>
          </a:prstGeom>
          <a:noFill/>
          <a:ln>
            <a:noFill/>
          </a:ln>
        </p:spPr>
      </p:pic>
      <p:sp>
        <p:nvSpPr>
          <p:cNvPr id="14" name="Title 1">
            <a:extLst>
              <a:ext uri="{FF2B5EF4-FFF2-40B4-BE49-F238E27FC236}">
                <a16:creationId xmlns:a16="http://schemas.microsoft.com/office/drawing/2014/main" id="{535D23E9-272A-47B5-88CB-CCF0D2D221A9}"/>
              </a:ext>
            </a:extLst>
          </p:cNvPr>
          <p:cNvSpPr txBox="1">
            <a:spLocks/>
          </p:cNvSpPr>
          <p:nvPr/>
        </p:nvSpPr>
        <p:spPr>
          <a:xfrm>
            <a:off x="17649" y="2492829"/>
            <a:ext cx="12156702" cy="1317171"/>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r>
              <a:rPr lang="en-US" sz="8800" b="1" cap="small" spc="150" dirty="0">
                <a:solidFill>
                  <a:schemeClr val="accent1">
                    <a:lumMod val="50000"/>
                  </a:schemeClr>
                </a:solidFill>
                <a:latin typeface="Microsoft JhengHei UI" panose="020B0604030504040204" pitchFamily="34" charset="-120"/>
                <a:ea typeface="Microsoft JhengHei UI" panose="020B0604030504040204" pitchFamily="34" charset="-120"/>
                <a:cs typeface="Times New Roman" panose="02020603050405020304" pitchFamily="18" charset="0"/>
              </a:rPr>
              <a:t>Thank You…</a:t>
            </a:r>
          </a:p>
        </p:txBody>
      </p:sp>
      <p:sp>
        <p:nvSpPr>
          <p:cNvPr id="9" name="Rectangle 8">
            <a:extLst>
              <a:ext uri="{FF2B5EF4-FFF2-40B4-BE49-F238E27FC236}">
                <a16:creationId xmlns:a16="http://schemas.microsoft.com/office/drawing/2014/main" id="{D8B84BDF-F816-4B4B-ABFD-3365239F93EE}"/>
              </a:ext>
            </a:extLst>
          </p:cNvPr>
          <p:cNvSpPr/>
          <p:nvPr/>
        </p:nvSpPr>
        <p:spPr>
          <a:xfrm>
            <a:off x="-172779" y="6483773"/>
            <a:ext cx="3024838" cy="372474"/>
          </a:xfrm>
          <a:prstGeom prst="rect">
            <a:avLst/>
          </a:prstGeom>
        </p:spPr>
        <p:txBody>
          <a:bodyPr wrap="square">
            <a:spAutoFit/>
          </a:bodyPr>
          <a:lstStyle/>
          <a:p>
            <a:pPr algn="ctr">
              <a:lnSpc>
                <a:spcPts val="2400"/>
              </a:lnSpc>
            </a:pPr>
            <a:r>
              <a:rPr lang="en-US" sz="16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12020040501012,15,19</a:t>
            </a:r>
          </a:p>
        </p:txBody>
      </p:sp>
      <p:sp>
        <p:nvSpPr>
          <p:cNvPr id="2" name="Rectangle 1">
            <a:extLst>
              <a:ext uri="{FF2B5EF4-FFF2-40B4-BE49-F238E27FC236}">
                <a16:creationId xmlns:a16="http://schemas.microsoft.com/office/drawing/2014/main" id="{0023719D-8C1B-3798-A3D0-0C4F788BC85C}"/>
              </a:ext>
            </a:extLst>
          </p:cNvPr>
          <p:cNvSpPr/>
          <p:nvPr/>
        </p:nvSpPr>
        <p:spPr>
          <a:xfrm>
            <a:off x="3053918" y="6483773"/>
            <a:ext cx="8708281" cy="360163"/>
          </a:xfrm>
          <a:prstGeom prst="rect">
            <a:avLst/>
          </a:prstGeom>
        </p:spPr>
        <p:txBody>
          <a:bodyPr wrap="square">
            <a:spAutoFit/>
          </a:bodyPr>
          <a:lstStyle/>
          <a:p>
            <a:pPr algn="ctr">
              <a:lnSpc>
                <a:spcPts val="2400"/>
              </a:lnSpc>
            </a:pPr>
            <a:r>
              <a:rPr lang="en-US" sz="1200" b="1" cap="small" spc="150" dirty="0">
                <a:solidFill>
                  <a:schemeClr val="bg1"/>
                </a:solidFill>
                <a:latin typeface="Microsoft JhengHei UI" panose="020B0604030504040204" pitchFamily="34" charset="-120"/>
                <a:ea typeface="Microsoft JhengHei UI" panose="020B0604030504040204" pitchFamily="34" charset="-120"/>
                <a:cs typeface="Times New Roman" panose="02020603050405020304" pitchFamily="18" charset="0"/>
              </a:rPr>
              <a:t>AI‑Assisted Dynamic Pricing and Product Content Optimization System for B2C Platforms</a:t>
            </a:r>
          </a:p>
        </p:txBody>
      </p:sp>
    </p:spTree>
    <p:extLst>
      <p:ext uri="{BB962C8B-B14F-4D97-AF65-F5344CB8AC3E}">
        <p14:creationId xmlns:p14="http://schemas.microsoft.com/office/powerpoint/2010/main" val="1946984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68121E6927E594AB9D4C67568B7DA81" ma:contentTypeVersion="2" ma:contentTypeDescription="Create a new document." ma:contentTypeScope="" ma:versionID="057134d0ccb6e108a3f2abbbbfd8baa7">
  <xsd:schema xmlns:xsd="http://www.w3.org/2001/XMLSchema" xmlns:xs="http://www.w3.org/2001/XMLSchema" xmlns:p="http://schemas.microsoft.com/office/2006/metadata/properties" xmlns:ns3="645cafad-b489-44b2-8349-baabd1cbb168" targetNamespace="http://schemas.microsoft.com/office/2006/metadata/properties" ma:root="true" ma:fieldsID="ce2d77c4706dabd15ea249ce51c11931" ns3:_="">
    <xsd:import namespace="645cafad-b489-44b2-8349-baabd1cbb168"/>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5cafad-b489-44b2-8349-baabd1cbb1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DC82A8-872E-47F8-99F0-0D0026E43CF2}">
  <ds:schemaRefs>
    <ds:schemaRef ds:uri="http://schemas.microsoft.com/sharepoint/v3/contenttype/forms"/>
  </ds:schemaRefs>
</ds:datastoreItem>
</file>

<file path=customXml/itemProps2.xml><?xml version="1.0" encoding="utf-8"?>
<ds:datastoreItem xmlns:ds="http://schemas.openxmlformats.org/officeDocument/2006/customXml" ds:itemID="{416F8BA0-627A-49F8-BB74-05278A03F1FF}">
  <ds:schemaRef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645cafad-b489-44b2-8349-baabd1cbb168"/>
    <ds:schemaRef ds:uri="http://purl.org/dc/elements/1.1/"/>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003BB85-B297-445F-A2AD-CD0FCA05B9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5cafad-b489-44b2-8349-baabd1cbb1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24487</TotalTime>
  <Words>1013</Words>
  <Application>Microsoft Office PowerPoint</Application>
  <PresentationFormat>Widescreen</PresentationFormat>
  <Paragraphs>215</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Microsoft JhengHei UI</vt:lpstr>
      <vt:lpstr>Arial</vt:lpstr>
      <vt:lpstr>Calibri</vt:lpstr>
      <vt:lpstr>Calibri Light</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Dhruv Patil</cp:lastModifiedBy>
  <cp:revision>1415</cp:revision>
  <dcterms:created xsi:type="dcterms:W3CDTF">2016-07-08T05:35:06Z</dcterms:created>
  <dcterms:modified xsi:type="dcterms:W3CDTF">2026-03-31T16:42:07Z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0x010100168121E6927E594AB9D4C67568B7DA81</vt:lpwstr>
  </property>
</Properties>
</file>